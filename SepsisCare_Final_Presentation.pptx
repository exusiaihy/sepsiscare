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9" r:id="rId16"/>
  </p:sldIdLst>
  <p:sldSz cx="15240000" cy="85725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5240000" cy="171450"/>
          </a:xfrm>
          <a:prstGeom prst="rect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171450"/>
            <a:ext cx="15240000" cy="19050"/>
          </a:xfrm>
          <a:prstGeom prst="rect">
            <a:avLst/>
          </a:prstGeom>
          <a:solidFill>
            <a:srgbClr val="15803D"/>
          </a:solidFill>
          <a:ln w="0">
            <a:solidFill>
              <a:srgbClr val="15803D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811000" y="323850"/>
            <a:ext cx="2857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5B6678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975" b="1">
                <a:solidFill>
                  <a:srgbClr val="5B6678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FINAL DEFENSE</a:t>
            </a:r>
            <a:endParaRPr sz="975" b="1">
              <a:solidFill>
                <a:srgbClr val="5B6678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7839075" y="1537970"/>
            <a:ext cx="6267450" cy="3981450"/>
          </a:xfrm>
          <a:prstGeom prst="roundRect">
            <a:avLst>
              <a:gd name="adj" fmla="val 1914"/>
            </a:avLst>
          </a:prstGeom>
          <a:solidFill>
            <a:srgbClr val="FFFFFF"/>
          </a:solidFill>
          <a:ln w="9525">
            <a:solidFill>
              <a:srgbClr val="1F6FEB"/>
            </a:solidFill>
            <a:prstDash val="solid"/>
          </a:ln>
        </p:spPr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rcRect l="228" r="228"/>
          <a:stretch>
            <a:fillRect/>
          </a:stretch>
        </p:blipFill>
        <p:spPr>
          <a:xfrm>
            <a:off x="7915275" y="1598930"/>
            <a:ext cx="6191250" cy="3905250"/>
          </a:xfrm>
          <a:prstGeom prst="rect">
            <a:avLst/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704850" y="1104900"/>
            <a:ext cx="657225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20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420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SepsisCare</a:t>
            </a:r>
            <a:endParaRPr sz="4200" b="1">
              <a:solidFill>
                <a:srgbClr val="111827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42950" y="1924050"/>
            <a:ext cx="6477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lang="en-US" altLang="zh-CN" sz="200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SepsisCare is a course project that expands an ICU time-series research prototype into an installable software system. Its goal is not to replace clinical diagnosis, but to demonstrate an end-to-end engineering workflow for sepsis risk stratification, dynamic phenotype trajectories, historical similar-case retrieval, a family communication agent, and a model training/operations terminal, based on de-identified ICU data and a local demonstration model.</a:t>
            </a:r>
            <a:endParaRPr lang="en-US" altLang="zh-CN" sz="2000" b="0">
              <a:solidFill>
                <a:srgbClr val="47556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l">
              <a:defRPr sz="180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endParaRPr lang="en-US" altLang="zh-CN" sz="2000" b="0">
              <a:solidFill>
                <a:srgbClr val="47556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191500" y="5726430"/>
            <a:ext cx="5715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75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Final package: model, apps, documentation, audits, deployment scripts, and explicit residual-risk boundaries.</a:t>
            </a:r>
            <a:endParaRPr sz="1575" b="1">
              <a:solidFill>
                <a:srgbClr val="111827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571500" y="8020050"/>
            <a:ext cx="140970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609600" y="8134350"/>
            <a:ext cx="1104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B667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790" b="0">
                <a:solidFill>
                  <a:srgbClr val="5B667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SepsisCare final presentation | Project report dated 2026-06-03</a:t>
            </a:r>
            <a:endParaRPr sz="790" b="0">
              <a:solidFill>
                <a:srgbClr val="5B6678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3906500" y="8134350"/>
            <a:ext cx="76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5B6678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900" b="1">
                <a:solidFill>
                  <a:srgbClr val="5B6678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01</a:t>
            </a:r>
            <a:endParaRPr sz="900" b="1">
              <a:solidFill>
                <a:srgbClr val="5B6678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5240000" cy="171450"/>
          </a:xfrm>
          <a:prstGeom prst="rect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171450"/>
            <a:ext cx="15240000" cy="19050"/>
          </a:xfrm>
          <a:prstGeom prst="rect">
            <a:avLst/>
          </a:prstGeom>
          <a:solidFill>
            <a:srgbClr val="15803D"/>
          </a:solidFill>
          <a:ln w="0">
            <a:solidFill>
              <a:srgbClr val="15803D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811000" y="323850"/>
            <a:ext cx="2857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5B6678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1400" b="1">
                <a:solidFill>
                  <a:srgbClr val="5B6678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SCOPE</a:t>
            </a:r>
            <a:endParaRPr sz="1400" b="1">
              <a:solidFill>
                <a:srgbClr val="5B6678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457200"/>
            <a:ext cx="9906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60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Problem and Boundary</a:t>
            </a:r>
            <a:endParaRPr sz="3600" b="1">
              <a:solidFill>
                <a:srgbClr val="111827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28650" y="1028700"/>
            <a:ext cx="11239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B667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400" b="0">
                <a:solidFill>
                  <a:srgbClr val="5B667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 project turns ICU time-series research into a demonstrable software system, while keeping clinical claims constrained.</a:t>
            </a:r>
            <a:endParaRPr sz="2400" b="0">
              <a:solidFill>
                <a:srgbClr val="5B6678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762000" y="1828800"/>
            <a:ext cx="4045585" cy="2077085"/>
          </a:xfrm>
          <a:prstGeom prst="roundRect">
            <a:avLst>
              <a:gd name="adj" fmla="val 4255"/>
            </a:avLst>
          </a:prstGeom>
          <a:solidFill>
            <a:srgbClr val="EAF2FF"/>
          </a:solidFill>
          <a:ln w="11430">
            <a:solidFill>
              <a:srgbClr val="1F6FEB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33450" y="1981200"/>
            <a:ext cx="3657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80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Clinical problem</a:t>
            </a:r>
            <a:endParaRPr sz="1800" b="1">
              <a:solidFill>
                <a:srgbClr val="111827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33450" y="2324100"/>
            <a:ext cx="3657600" cy="1181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00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Sepsis evolves quickly in ICU settings. Static scores cannot express 48-hour trajectory changes, missingness patterns, or phenotype transitions.</a:t>
            </a:r>
            <a:endParaRPr sz="2000" b="0">
              <a:solidFill>
                <a:srgbClr val="47556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5574665" y="1828800"/>
            <a:ext cx="4045585" cy="2077085"/>
          </a:xfrm>
          <a:prstGeom prst="roundRect">
            <a:avLst>
              <a:gd name="adj" fmla="val 4255"/>
            </a:avLst>
          </a:prstGeom>
          <a:solidFill>
            <a:srgbClr val="EAF7EE"/>
          </a:solidFill>
          <a:ln w="11430">
            <a:solidFill>
              <a:srgbClr val="15803D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5791200" y="1981200"/>
            <a:ext cx="3657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80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Course project goal</a:t>
            </a:r>
            <a:endParaRPr sz="1800" b="1">
              <a:solidFill>
                <a:srgbClr val="111827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791200" y="2324100"/>
            <a:ext cx="3657600" cy="1181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00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Show an end-to-end loop: data preparation, dynamic phenotyping, risk modeling, multi-role interfaces, deployment, and evidence-backed safety controls.</a:t>
            </a:r>
            <a:endParaRPr sz="2000" b="0">
              <a:solidFill>
                <a:srgbClr val="47556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10272395" y="1828800"/>
            <a:ext cx="4015105" cy="2077085"/>
          </a:xfrm>
          <a:prstGeom prst="roundRect">
            <a:avLst>
              <a:gd name="adj" fmla="val 4255"/>
            </a:avLst>
          </a:prstGeom>
          <a:solidFill>
            <a:srgbClr val="FDECEC"/>
          </a:solidFill>
          <a:ln w="11430">
            <a:solidFill>
              <a:srgbClr val="B91C1C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0458450" y="1981200"/>
            <a:ext cx="3657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80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Hard boundary</a:t>
            </a:r>
            <a:endParaRPr sz="1800" b="1">
              <a:solidFill>
                <a:srgbClr val="111827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0458450" y="2324100"/>
            <a:ext cx="3657600" cy="1181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80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 outputs are for course demonstration and engineering validation. They are not autonomous clinical orders, diagnoses, or regulated medical-device claims.</a:t>
            </a:r>
            <a:endParaRPr sz="1800" b="0">
              <a:solidFill>
                <a:srgbClr val="47556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7" name="椭圆 16"/>
          <p:cNvSpPr>
            <a:spLocks noGrp="1"/>
          </p:cNvSpPr>
          <p:nvPr/>
        </p:nvSpPr>
        <p:spPr>
          <a:xfrm>
            <a:off x="1143000" y="4552950"/>
            <a:ext cx="114300" cy="114300"/>
          </a:xfrm>
          <a:prstGeom prst="ellipse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409700" y="4439920"/>
            <a:ext cx="126873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400" b="0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Research layer: learn stable patient and window representations from de-identified ICU time series.</a:t>
            </a:r>
            <a:endParaRPr sz="2400" b="0">
              <a:solidFill>
                <a:srgbClr val="111827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9" name="椭圆 18"/>
          <p:cNvSpPr>
            <a:spLocks noGrp="1"/>
          </p:cNvSpPr>
          <p:nvPr/>
        </p:nvSpPr>
        <p:spPr>
          <a:xfrm>
            <a:off x="1143000" y="5105400"/>
            <a:ext cx="114300" cy="114300"/>
          </a:xfrm>
          <a:prstGeom prst="ellipse">
            <a:avLst/>
          </a:prstGeom>
          <a:solidFill>
            <a:srgbClr val="15803D"/>
          </a:solidFill>
          <a:ln w="0">
            <a:solidFill>
              <a:srgbClr val="15803D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409700" y="5029200"/>
            <a:ext cx="126873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400" b="0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Engineering layer: ship app clients, HTTP APIs, model service, training terminal, and deployment scripts.</a:t>
            </a:r>
            <a:endParaRPr sz="2400" b="0">
              <a:solidFill>
                <a:srgbClr val="111827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1" name="椭圆 20"/>
          <p:cNvSpPr>
            <a:spLocks noGrp="1"/>
          </p:cNvSpPr>
          <p:nvPr/>
        </p:nvSpPr>
        <p:spPr>
          <a:xfrm>
            <a:off x="1143000" y="5905500"/>
            <a:ext cx="113665" cy="114300"/>
          </a:xfrm>
          <a:prstGeom prst="ellipse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409700" y="5772150"/>
            <a:ext cx="126873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400" b="0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Assurance layer: add token gates, SSRF filters, data audits, artifact manifests, and explicit blocked-state reporting.</a:t>
            </a:r>
            <a:endParaRPr sz="2400" b="0">
              <a:solidFill>
                <a:srgbClr val="111827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71500" y="8020050"/>
            <a:ext cx="140970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609600" y="8134350"/>
            <a:ext cx="1104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B667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000" b="0">
                <a:solidFill>
                  <a:srgbClr val="5B667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Source: current SepsisCare project documentation and verification notes</a:t>
            </a:r>
            <a:endParaRPr sz="1000" b="0">
              <a:solidFill>
                <a:srgbClr val="5B6678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3906500" y="8134350"/>
            <a:ext cx="76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5B6678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1400" b="1">
                <a:solidFill>
                  <a:srgbClr val="5B6678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02</a:t>
            </a:r>
            <a:endParaRPr sz="1400" b="1">
              <a:solidFill>
                <a:srgbClr val="5B6678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5240000" cy="171450"/>
          </a:xfrm>
          <a:prstGeom prst="rect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171450"/>
            <a:ext cx="15240000" cy="19050"/>
          </a:xfrm>
          <a:prstGeom prst="rect">
            <a:avLst/>
          </a:prstGeom>
          <a:solidFill>
            <a:srgbClr val="15803D"/>
          </a:solidFill>
          <a:ln w="0">
            <a:solidFill>
              <a:srgbClr val="15803D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811000" y="323850"/>
            <a:ext cx="2857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5B6678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900" b="1">
                <a:solidFill>
                  <a:srgbClr val="5B6678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DATA</a:t>
            </a:r>
            <a:endParaRPr sz="900" b="1">
              <a:solidFill>
                <a:srgbClr val="5B6678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457200"/>
            <a:ext cx="9906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60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Data Foundation</a:t>
            </a:r>
            <a:endParaRPr sz="3600" b="1">
              <a:solidFill>
                <a:srgbClr val="111827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28650" y="1028700"/>
            <a:ext cx="11239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B667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000" b="0">
                <a:solidFill>
                  <a:srgbClr val="5B667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Four ICU sources are normalized into a common 48-hour time-series interface.</a:t>
            </a:r>
            <a:endParaRPr sz="2000" b="0">
              <a:solidFill>
                <a:srgbClr val="5B6678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781050" y="1752600"/>
            <a:ext cx="2000250" cy="1066800"/>
          </a:xfrm>
          <a:prstGeom prst="roundRect">
            <a:avLst>
              <a:gd name="adj" fmla="val 7143"/>
            </a:avLst>
          </a:prstGeom>
          <a:solidFill>
            <a:srgbClr val="EAF2FF"/>
          </a:solidFill>
          <a:ln w="10478">
            <a:solidFill>
              <a:srgbClr val="1F6FEB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14400" y="1885950"/>
            <a:ext cx="17335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1F6FE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000" b="1">
                <a:solidFill>
                  <a:srgbClr val="1F6FE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11,986</a:t>
            </a:r>
            <a:endParaRPr sz="2000" b="1">
              <a:solidFill>
                <a:srgbClr val="1F6FE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14400" y="2286000"/>
            <a:ext cx="17335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40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PhysioNet 2012 main phenotype source</a:t>
            </a:r>
            <a:endParaRPr sz="1400" b="0">
              <a:solidFill>
                <a:srgbClr val="47556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3028950" y="1752600"/>
            <a:ext cx="2000250" cy="1066800"/>
          </a:xfrm>
          <a:prstGeom prst="roundRect">
            <a:avLst>
              <a:gd name="adj" fmla="val 7143"/>
            </a:avLst>
          </a:prstGeom>
          <a:solidFill>
            <a:srgbClr val="EAF7EE"/>
          </a:solidFill>
          <a:ln w="10478">
            <a:solidFill>
              <a:srgbClr val="15803D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3162300" y="1885950"/>
            <a:ext cx="17335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15803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000" b="1">
                <a:solidFill>
                  <a:srgbClr val="15803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40,331</a:t>
            </a:r>
            <a:endParaRPr sz="2000" b="1">
              <a:solidFill>
                <a:srgbClr val="15803D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162300" y="2286000"/>
            <a:ext cx="17335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40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PhysioNet 2019 auxiliary sepsis source</a:t>
            </a:r>
            <a:endParaRPr sz="1400" b="0">
              <a:solidFill>
                <a:srgbClr val="47556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5276850" y="1752600"/>
            <a:ext cx="2000250" cy="1066800"/>
          </a:xfrm>
          <a:prstGeom prst="roundRect">
            <a:avLst>
              <a:gd name="adj" fmla="val 7143"/>
            </a:avLst>
          </a:prstGeom>
          <a:solidFill>
            <a:srgbClr val="FFF3D6"/>
          </a:solidFill>
          <a:ln w="10478">
            <a:solidFill>
              <a:srgbClr val="D97706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5410200" y="1885950"/>
            <a:ext cx="17335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D9770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000" b="1">
                <a:solidFill>
                  <a:srgbClr val="D9770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94,458</a:t>
            </a:r>
            <a:endParaRPr sz="2000" b="1">
              <a:solidFill>
                <a:srgbClr val="D9770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410200" y="2286000"/>
            <a:ext cx="17335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40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MIMIC-IV</a:t>
            </a:r>
            <a:endParaRPr lang="en-US" sz="1400" b="0">
              <a:solidFill>
                <a:srgbClr val="47556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7524750" y="1752600"/>
            <a:ext cx="2000250" cy="1066800"/>
          </a:xfrm>
          <a:prstGeom prst="roundRect">
            <a:avLst>
              <a:gd name="adj" fmla="val 7143"/>
            </a:avLst>
          </a:prstGeom>
          <a:solidFill>
            <a:srgbClr val="F1EAFE"/>
          </a:solidFill>
          <a:ln w="10478">
            <a:solidFill>
              <a:srgbClr val="6D28D9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658100" y="1885950"/>
            <a:ext cx="17335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6D28D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000" b="1">
                <a:solidFill>
                  <a:srgbClr val="6D28D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200,859</a:t>
            </a:r>
            <a:endParaRPr sz="2000" b="1">
              <a:solidFill>
                <a:srgbClr val="6D28D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672705" y="2286000"/>
            <a:ext cx="17335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40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eIC</a:t>
            </a:r>
            <a:r>
              <a:rPr lang="en-US" sz="140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U</a:t>
            </a:r>
            <a:endParaRPr lang="en-US" sz="1400" b="0">
              <a:solidFill>
                <a:srgbClr val="47556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9982200" y="1752600"/>
            <a:ext cx="2381250" cy="1066800"/>
          </a:xfrm>
          <a:prstGeom prst="roundRect">
            <a:avLst>
              <a:gd name="adj" fmla="val 7143"/>
            </a:avLst>
          </a:prstGeom>
          <a:solidFill>
            <a:srgbClr val="F6F8FB"/>
          </a:solidFill>
          <a:ln w="10478">
            <a:solidFill>
              <a:srgbClr val="475569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0115550" y="1885950"/>
            <a:ext cx="21145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325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00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347,634</a:t>
            </a:r>
            <a:endParaRPr sz="2000" b="1">
              <a:solidFill>
                <a:srgbClr val="111827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115550" y="2286000"/>
            <a:ext cx="21145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40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declared S7 training patients</a:t>
            </a:r>
            <a:endParaRPr sz="1400" b="0">
              <a:solidFill>
                <a:srgbClr val="47556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047750" y="3800475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000" b="0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PhysioNet 2012</a:t>
            </a:r>
            <a:endParaRPr sz="1000" b="0">
              <a:solidFill>
                <a:srgbClr val="111827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3238500" y="3819525"/>
            <a:ext cx="6286500" cy="171450"/>
          </a:xfrm>
          <a:prstGeom prst="rect">
            <a:avLst/>
          </a:prstGeom>
          <a:solidFill>
            <a:srgbClr val="EEF2F7"/>
          </a:solidFill>
          <a:ln w="0">
            <a:solidFill>
              <a:srgbClr val="EEF2F7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3238500" y="3819525"/>
            <a:ext cx="358809" cy="171450"/>
          </a:xfrm>
          <a:prstGeom prst="rect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9639300" y="3771900"/>
            <a:ext cx="723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F6FE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1000" b="1">
                <a:solidFill>
                  <a:srgbClr val="1F6FE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11,986</a:t>
            </a:r>
            <a:endParaRPr sz="1000" b="1">
              <a:solidFill>
                <a:srgbClr val="1F6FEB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047750" y="4371975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000" b="0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PhysioNet 2019</a:t>
            </a:r>
            <a:endParaRPr sz="1000" b="0">
              <a:solidFill>
                <a:srgbClr val="111827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3238500" y="4391025"/>
            <a:ext cx="6286500" cy="171450"/>
          </a:xfrm>
          <a:prstGeom prst="rect">
            <a:avLst/>
          </a:prstGeom>
          <a:solidFill>
            <a:srgbClr val="EEF2F7"/>
          </a:solidFill>
          <a:ln w="0">
            <a:solidFill>
              <a:srgbClr val="EEF2F7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3238500" y="4391025"/>
            <a:ext cx="1207337" cy="171450"/>
          </a:xfrm>
          <a:prstGeom prst="rect">
            <a:avLst/>
          </a:prstGeom>
          <a:solidFill>
            <a:srgbClr val="15803D"/>
          </a:solidFill>
          <a:ln w="0">
            <a:solidFill>
              <a:srgbClr val="15803D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9639300" y="4343400"/>
            <a:ext cx="723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5803D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1000" b="1">
                <a:solidFill>
                  <a:srgbClr val="15803D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40,331</a:t>
            </a:r>
            <a:endParaRPr sz="1000" b="1">
              <a:solidFill>
                <a:srgbClr val="15803D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047750" y="4943475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000" b="0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MIMIC-IV</a:t>
            </a:r>
            <a:endParaRPr sz="1000" b="0">
              <a:solidFill>
                <a:srgbClr val="111827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3238500" y="4962525"/>
            <a:ext cx="6286500" cy="171450"/>
          </a:xfrm>
          <a:prstGeom prst="rect">
            <a:avLst/>
          </a:prstGeom>
          <a:solidFill>
            <a:srgbClr val="EEF2F7"/>
          </a:solidFill>
          <a:ln w="0">
            <a:solidFill>
              <a:srgbClr val="EEF2F7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3238500" y="4962525"/>
            <a:ext cx="2827668" cy="17145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9639300" y="4914900"/>
            <a:ext cx="723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D97706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1000" b="1">
                <a:solidFill>
                  <a:srgbClr val="D97706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94,458</a:t>
            </a:r>
            <a:endParaRPr sz="1000" b="1">
              <a:solidFill>
                <a:srgbClr val="D97706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1047750" y="5514975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000" b="0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eICU</a:t>
            </a:r>
            <a:endParaRPr sz="1000" b="0">
              <a:solidFill>
                <a:srgbClr val="111827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3238500" y="5534025"/>
            <a:ext cx="6286500" cy="171450"/>
          </a:xfrm>
          <a:prstGeom prst="rect">
            <a:avLst/>
          </a:prstGeom>
          <a:solidFill>
            <a:srgbClr val="EEF2F7"/>
          </a:solidFill>
          <a:ln w="0">
            <a:solidFill>
              <a:srgbClr val="EEF2F7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3238500" y="5534025"/>
            <a:ext cx="6012858" cy="171450"/>
          </a:xfrm>
          <a:prstGeom prst="rect">
            <a:avLst/>
          </a:prstGeom>
          <a:solidFill>
            <a:srgbClr val="6D28D9"/>
          </a:solidFill>
          <a:ln w="0">
            <a:solidFill>
              <a:srgbClr val="6D28D9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9639300" y="5486400"/>
            <a:ext cx="723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6D28D9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1000" b="1">
                <a:solidFill>
                  <a:srgbClr val="6D28D9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200,859</a:t>
            </a:r>
            <a:endParaRPr sz="1000" b="1">
              <a:solidFill>
                <a:srgbClr val="6D28D9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10715625" y="3648075"/>
            <a:ext cx="3286125" cy="1485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00" b="0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 model sees values, observation masks, static features, interventions, labels when available, and source provenance. Missing labels are handled through masked losses rather than forced fake labels.</a:t>
            </a:r>
            <a:endParaRPr sz="1600" b="0">
              <a:solidFill>
                <a:srgbClr val="111827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0" name="圆角矩形 39"/>
          <p:cNvSpPr>
            <a:spLocks noGrp="1"/>
          </p:cNvSpPr>
          <p:nvPr/>
        </p:nvSpPr>
        <p:spPr>
          <a:xfrm>
            <a:off x="10715625" y="5334000"/>
            <a:ext cx="3286125" cy="590550"/>
          </a:xfrm>
          <a:prstGeom prst="roundRect">
            <a:avLst>
              <a:gd name="adj" fmla="val 12903"/>
            </a:avLst>
          </a:prstGeom>
          <a:solidFill>
            <a:srgbClr val="FDECEC"/>
          </a:solidFill>
          <a:ln w="9525">
            <a:solidFill>
              <a:srgbClr val="B91C1C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10848975" y="5427980"/>
            <a:ext cx="30194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B91C1C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b="1">
                <a:solidFill>
                  <a:srgbClr val="B91C1C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No restricted raw ICU database is packaged in the final delivery.</a:t>
            </a:r>
            <a:endParaRPr b="1">
              <a:solidFill>
                <a:srgbClr val="B91C1C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571500" y="8020050"/>
            <a:ext cx="140970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609600" y="8134350"/>
            <a:ext cx="1104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B667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700" b="0">
                <a:solidFill>
                  <a:srgbClr val="5B667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Source: 03_documentation/SepsisCare_Paper_Report.tex, dataset table</a:t>
            </a:r>
            <a:endParaRPr sz="700" b="0">
              <a:solidFill>
                <a:srgbClr val="5B6678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13906500" y="8134350"/>
            <a:ext cx="76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5B6678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b="1">
                <a:solidFill>
                  <a:srgbClr val="5B6678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03</a:t>
            </a:r>
            <a:endParaRPr b="1">
              <a:solidFill>
                <a:srgbClr val="5B6678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5240000" cy="1370266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5240000" cy="273050"/>
          </a:xfrm>
          <a:prstGeom prst="rect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171450"/>
            <a:ext cx="15240000" cy="92710"/>
          </a:xfrm>
          <a:prstGeom prst="rect">
            <a:avLst/>
          </a:prstGeom>
          <a:solidFill>
            <a:srgbClr val="15803D"/>
          </a:solidFill>
          <a:ln w="0">
            <a:solidFill>
              <a:srgbClr val="15803D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811000" y="323850"/>
            <a:ext cx="2857500" cy="39497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5B6678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1400" b="1">
                <a:solidFill>
                  <a:srgbClr val="5B6678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RESEARCH</a:t>
            </a:r>
            <a:endParaRPr sz="1400" b="1">
              <a:solidFill>
                <a:srgbClr val="5B6678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457200"/>
            <a:ext cx="9906000" cy="942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60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S0-S7 Research Roadmap</a:t>
            </a:r>
            <a:endParaRPr sz="3600" b="1">
              <a:solidFill>
                <a:srgbClr val="111827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28650" y="1028700"/>
            <a:ext cx="11239500" cy="66865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B667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800" b="0">
                <a:solidFill>
                  <a:srgbClr val="5B667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Each stage fixed one concrete weakness before the final deployable model was selected.</a:t>
            </a:r>
            <a:endParaRPr sz="1800" b="0">
              <a:solidFill>
                <a:srgbClr val="5B6678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666750" y="2047875"/>
            <a:ext cx="1428750" cy="1856105"/>
          </a:xfrm>
          <a:prstGeom prst="roundRect">
            <a:avLst>
              <a:gd name="adj" fmla="val 6557"/>
            </a:avLst>
          </a:prstGeom>
          <a:solidFill>
            <a:srgbClr val="EAF2FF"/>
          </a:solidFill>
          <a:ln w="11430">
            <a:solidFill>
              <a:srgbClr val="1F6FEB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38200" y="2200275"/>
            <a:ext cx="1085850" cy="425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80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S0</a:t>
            </a:r>
            <a:endParaRPr sz="2800" b="1">
              <a:solidFill>
                <a:srgbClr val="111827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38200" y="2543175"/>
            <a:ext cx="1085850" cy="1095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0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48h </a:t>
            </a:r>
            <a:r>
              <a:rPr sz="200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tensors</a:t>
            </a:r>
            <a:endParaRPr sz="1600" b="0">
              <a:solidFill>
                <a:srgbClr val="47556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l">
              <a:defRPr sz="105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0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patient splits</a:t>
            </a:r>
            <a:endParaRPr sz="1600" b="0">
              <a:solidFill>
                <a:srgbClr val="47556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1" name="右箭头 10"/>
          <p:cNvSpPr>
            <a:spLocks noGrp="1"/>
          </p:cNvSpPr>
          <p:nvPr/>
        </p:nvSpPr>
        <p:spPr>
          <a:xfrm>
            <a:off x="2133600" y="2476500"/>
            <a:ext cx="266700" cy="365125"/>
          </a:xfrm>
          <a:prstGeom prst="rightArrow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12" name="圆角矩形 11"/>
          <p:cNvSpPr>
            <a:spLocks noGrp="1"/>
          </p:cNvSpPr>
          <p:nvPr/>
        </p:nvSpPr>
        <p:spPr>
          <a:xfrm>
            <a:off x="2428875" y="2047875"/>
            <a:ext cx="1428750" cy="1856105"/>
          </a:xfrm>
          <a:prstGeom prst="roundRect">
            <a:avLst>
              <a:gd name="adj" fmla="val 6557"/>
            </a:avLst>
          </a:prstGeom>
          <a:solidFill>
            <a:srgbClr val="EAF2FF"/>
          </a:solidFill>
          <a:ln w="11430">
            <a:solidFill>
              <a:srgbClr val="1F6FEB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2600325" y="2200275"/>
            <a:ext cx="1085850" cy="425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80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S1</a:t>
            </a:r>
            <a:endParaRPr sz="2800" b="1">
              <a:solidFill>
                <a:srgbClr val="111827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600325" y="2543175"/>
            <a:ext cx="108585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0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masked</a:t>
            </a:r>
            <a:endParaRPr sz="1600" b="0">
              <a:solidFill>
                <a:srgbClr val="47556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l">
              <a:defRPr sz="105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0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reconstruction</a:t>
            </a:r>
            <a:endParaRPr sz="1600" b="0">
              <a:solidFill>
                <a:srgbClr val="47556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5" name="右箭头 14"/>
          <p:cNvSpPr>
            <a:spLocks noGrp="1"/>
          </p:cNvSpPr>
          <p:nvPr/>
        </p:nvSpPr>
        <p:spPr>
          <a:xfrm>
            <a:off x="3895725" y="2476500"/>
            <a:ext cx="266700" cy="365125"/>
          </a:xfrm>
          <a:prstGeom prst="rightArrow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16" name="圆角矩形 15"/>
          <p:cNvSpPr>
            <a:spLocks noGrp="1"/>
          </p:cNvSpPr>
          <p:nvPr/>
        </p:nvSpPr>
        <p:spPr>
          <a:xfrm>
            <a:off x="4191000" y="2047875"/>
            <a:ext cx="1428750" cy="1856105"/>
          </a:xfrm>
          <a:prstGeom prst="roundRect">
            <a:avLst>
              <a:gd name="adj" fmla="val 6557"/>
            </a:avLst>
          </a:prstGeom>
          <a:solidFill>
            <a:srgbClr val="EAF2FF"/>
          </a:solidFill>
          <a:ln w="11430">
            <a:solidFill>
              <a:srgbClr val="1F6FEB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4362450" y="2200275"/>
            <a:ext cx="1085850" cy="425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80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S1.5</a:t>
            </a:r>
            <a:endParaRPr sz="2800" b="1">
              <a:solidFill>
                <a:srgbClr val="111827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362450" y="2543175"/>
            <a:ext cx="108585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0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contrastive</a:t>
            </a:r>
            <a:endParaRPr sz="1600" b="0">
              <a:solidFill>
                <a:srgbClr val="47556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l">
              <a:defRPr sz="105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0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self-supervision</a:t>
            </a:r>
            <a:endParaRPr sz="1600" b="0">
              <a:solidFill>
                <a:srgbClr val="47556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9" name="右箭头 18"/>
          <p:cNvSpPr>
            <a:spLocks noGrp="1"/>
          </p:cNvSpPr>
          <p:nvPr/>
        </p:nvSpPr>
        <p:spPr>
          <a:xfrm>
            <a:off x="5657850" y="2476500"/>
            <a:ext cx="266700" cy="365125"/>
          </a:xfrm>
          <a:prstGeom prst="rightArrow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20" name="圆角矩形 19"/>
          <p:cNvSpPr>
            <a:spLocks noGrp="1"/>
          </p:cNvSpPr>
          <p:nvPr/>
        </p:nvSpPr>
        <p:spPr>
          <a:xfrm>
            <a:off x="5953125" y="2047875"/>
            <a:ext cx="1428750" cy="1856105"/>
          </a:xfrm>
          <a:prstGeom prst="roundRect">
            <a:avLst>
              <a:gd name="adj" fmla="val 6557"/>
            </a:avLst>
          </a:prstGeom>
          <a:solidFill>
            <a:srgbClr val="EAF7EE"/>
          </a:solidFill>
          <a:ln w="11430">
            <a:solidFill>
              <a:srgbClr val="15803D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124575" y="2200275"/>
            <a:ext cx="1085850" cy="425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80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S2</a:t>
            </a:r>
            <a:endParaRPr sz="2800" b="1">
              <a:solidFill>
                <a:srgbClr val="111827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124575" y="2543175"/>
            <a:ext cx="108585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0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rolling-window</a:t>
            </a:r>
            <a:endParaRPr sz="1600" b="0">
              <a:solidFill>
                <a:srgbClr val="47556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l">
              <a:defRPr sz="105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0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phenotypes</a:t>
            </a:r>
            <a:endParaRPr sz="1600" b="0">
              <a:solidFill>
                <a:srgbClr val="47556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3" name="右箭头 22"/>
          <p:cNvSpPr>
            <a:spLocks noGrp="1"/>
          </p:cNvSpPr>
          <p:nvPr/>
        </p:nvSpPr>
        <p:spPr>
          <a:xfrm>
            <a:off x="7419975" y="2476500"/>
            <a:ext cx="266700" cy="365125"/>
          </a:xfrm>
          <a:prstGeom prst="rightArrow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24" name="圆角矩形 23"/>
          <p:cNvSpPr>
            <a:spLocks noGrp="1"/>
          </p:cNvSpPr>
          <p:nvPr/>
        </p:nvSpPr>
        <p:spPr>
          <a:xfrm>
            <a:off x="7715250" y="2047875"/>
            <a:ext cx="1428750" cy="1856105"/>
          </a:xfrm>
          <a:prstGeom prst="roundRect">
            <a:avLst>
              <a:gd name="adj" fmla="val 6557"/>
            </a:avLst>
          </a:prstGeom>
          <a:solidFill>
            <a:srgbClr val="EAF7EE"/>
          </a:solidFill>
          <a:ln w="11430">
            <a:solidFill>
              <a:srgbClr val="15803D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7886700" y="2200275"/>
            <a:ext cx="1085850" cy="425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80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S3</a:t>
            </a:r>
            <a:endParaRPr sz="2800" b="1">
              <a:solidFill>
                <a:srgbClr val="111827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886700" y="2543175"/>
            <a:ext cx="108585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0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cross-center</a:t>
            </a:r>
            <a:endParaRPr sz="1600" b="0">
              <a:solidFill>
                <a:srgbClr val="47556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l">
              <a:defRPr sz="105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0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stability</a:t>
            </a:r>
            <a:endParaRPr sz="1600" b="0">
              <a:solidFill>
                <a:srgbClr val="47556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7" name="右箭头 26"/>
          <p:cNvSpPr>
            <a:spLocks noGrp="1"/>
          </p:cNvSpPr>
          <p:nvPr/>
        </p:nvSpPr>
        <p:spPr>
          <a:xfrm>
            <a:off x="9182100" y="2476500"/>
            <a:ext cx="266700" cy="365125"/>
          </a:xfrm>
          <a:prstGeom prst="rightArrow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28" name="圆角矩形 27"/>
          <p:cNvSpPr>
            <a:spLocks noGrp="1"/>
          </p:cNvSpPr>
          <p:nvPr/>
        </p:nvSpPr>
        <p:spPr>
          <a:xfrm>
            <a:off x="9477375" y="2047875"/>
            <a:ext cx="1428750" cy="1856105"/>
          </a:xfrm>
          <a:prstGeom prst="roundRect">
            <a:avLst>
              <a:gd name="adj" fmla="val 6557"/>
            </a:avLst>
          </a:prstGeom>
          <a:solidFill>
            <a:srgbClr val="FFF3D6"/>
          </a:solidFill>
          <a:ln w="11430">
            <a:solidFill>
              <a:srgbClr val="D97706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9648825" y="2200275"/>
            <a:ext cx="1085850" cy="425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80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S5</a:t>
            </a:r>
            <a:endParaRPr sz="2800" b="1">
              <a:solidFill>
                <a:srgbClr val="111827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9648825" y="2543175"/>
            <a:ext cx="108585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0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real-time</a:t>
            </a:r>
            <a:endParaRPr sz="1600" b="0">
              <a:solidFill>
                <a:srgbClr val="47556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l">
              <a:defRPr sz="105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0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horizon policy</a:t>
            </a:r>
            <a:endParaRPr sz="1600" b="0">
              <a:solidFill>
                <a:srgbClr val="47556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1" name="右箭头 30"/>
          <p:cNvSpPr>
            <a:spLocks noGrp="1"/>
          </p:cNvSpPr>
          <p:nvPr/>
        </p:nvSpPr>
        <p:spPr>
          <a:xfrm>
            <a:off x="10944225" y="2476500"/>
            <a:ext cx="266700" cy="365125"/>
          </a:xfrm>
          <a:prstGeom prst="rightArrow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32" name="圆角矩形 31"/>
          <p:cNvSpPr>
            <a:spLocks noGrp="1"/>
          </p:cNvSpPr>
          <p:nvPr/>
        </p:nvSpPr>
        <p:spPr>
          <a:xfrm>
            <a:off x="11239500" y="2047875"/>
            <a:ext cx="1428750" cy="1856105"/>
          </a:xfrm>
          <a:prstGeom prst="roundRect">
            <a:avLst>
              <a:gd name="adj" fmla="val 6557"/>
            </a:avLst>
          </a:prstGeom>
          <a:solidFill>
            <a:srgbClr val="FFF3D6"/>
          </a:solidFill>
          <a:ln w="11430">
            <a:solidFill>
              <a:srgbClr val="D97706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11410950" y="2200275"/>
            <a:ext cx="1085850" cy="425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80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S6</a:t>
            </a:r>
            <a:endParaRPr sz="2800" b="1">
              <a:solidFill>
                <a:srgbClr val="111827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1410950" y="2543175"/>
            <a:ext cx="108585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0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missingness-</a:t>
            </a:r>
            <a:endParaRPr sz="1600" b="0">
              <a:solidFill>
                <a:srgbClr val="47556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l">
              <a:defRPr sz="105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0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aware GRU</a:t>
            </a:r>
            <a:endParaRPr sz="1600" b="0">
              <a:solidFill>
                <a:srgbClr val="47556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5" name="右箭头 34"/>
          <p:cNvSpPr>
            <a:spLocks noGrp="1"/>
          </p:cNvSpPr>
          <p:nvPr/>
        </p:nvSpPr>
        <p:spPr>
          <a:xfrm>
            <a:off x="12706350" y="2476500"/>
            <a:ext cx="266700" cy="365125"/>
          </a:xfrm>
          <a:prstGeom prst="rightArrow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36" name="圆角矩形 35"/>
          <p:cNvSpPr>
            <a:spLocks noGrp="1"/>
          </p:cNvSpPr>
          <p:nvPr/>
        </p:nvSpPr>
        <p:spPr>
          <a:xfrm>
            <a:off x="13001625" y="2047875"/>
            <a:ext cx="1428750" cy="1856105"/>
          </a:xfrm>
          <a:prstGeom prst="roundRect">
            <a:avLst>
              <a:gd name="adj" fmla="val 6557"/>
            </a:avLst>
          </a:prstGeom>
          <a:solidFill>
            <a:srgbClr val="F1EAFE"/>
          </a:solidFill>
          <a:ln w="11430">
            <a:solidFill>
              <a:srgbClr val="6D28D9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13173075" y="2200275"/>
            <a:ext cx="1085850" cy="425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80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S7</a:t>
            </a:r>
            <a:endParaRPr sz="2800" b="1">
              <a:solidFill>
                <a:srgbClr val="111827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13173075" y="2543175"/>
            <a:ext cx="108585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0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multi-source</a:t>
            </a:r>
            <a:endParaRPr sz="1600" b="0">
              <a:solidFill>
                <a:srgbClr val="47556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l">
              <a:defRPr sz="105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0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phenotype supervision</a:t>
            </a:r>
            <a:endParaRPr sz="1600" b="0">
              <a:solidFill>
                <a:srgbClr val="47556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9" name="圆角矩形 38"/>
          <p:cNvSpPr>
            <a:spLocks noGrp="1"/>
          </p:cNvSpPr>
          <p:nvPr/>
        </p:nvSpPr>
        <p:spPr>
          <a:xfrm>
            <a:off x="1066800" y="4267200"/>
            <a:ext cx="3714750" cy="2069465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1430">
            <a:solidFill>
              <a:srgbClr val="1F6FEB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1238250" y="4419600"/>
            <a:ext cx="3371850" cy="425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80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Why this matters</a:t>
            </a:r>
            <a:endParaRPr sz="1800" b="1">
              <a:solidFill>
                <a:srgbClr val="111827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1238250" y="4762500"/>
            <a:ext cx="3371850" cy="109601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0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 final model is not a single jump from raw ICU records to a score. It is a chain of representation learning, phenotype discovery, validation, deployment calibration, and multi-source supervision.</a:t>
            </a:r>
            <a:endParaRPr sz="1600" b="0">
              <a:solidFill>
                <a:srgbClr val="47556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2" name="圆角矩形 41"/>
          <p:cNvSpPr>
            <a:spLocks noGrp="1"/>
          </p:cNvSpPr>
          <p:nvPr/>
        </p:nvSpPr>
        <p:spPr>
          <a:xfrm>
            <a:off x="5762625" y="4267200"/>
            <a:ext cx="3714750" cy="2069465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1430">
            <a:solidFill>
              <a:srgbClr val="15803D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5934075" y="4419600"/>
            <a:ext cx="3371850" cy="425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80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What changed over time</a:t>
            </a:r>
            <a:endParaRPr sz="1800" b="1">
              <a:solidFill>
                <a:srgbClr val="111827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5934075" y="4762500"/>
            <a:ext cx="3371850" cy="109601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0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Early embeddings helped risk ranking. Rolling windows made dynamics visible. Missingness-aware sequence modeling and source-balanced training made the final package more robust.</a:t>
            </a:r>
            <a:endParaRPr sz="1600" b="0">
              <a:solidFill>
                <a:srgbClr val="47556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5" name="圆角矩形 44"/>
          <p:cNvSpPr>
            <a:spLocks noGrp="1"/>
          </p:cNvSpPr>
          <p:nvPr/>
        </p:nvSpPr>
        <p:spPr>
          <a:xfrm>
            <a:off x="10458450" y="4267200"/>
            <a:ext cx="3714750" cy="2069465"/>
          </a:xfrm>
          <a:prstGeom prst="roundRect">
            <a:avLst>
              <a:gd name="adj" fmla="val 5882"/>
            </a:avLst>
          </a:prstGeom>
          <a:solidFill>
            <a:srgbClr val="FDECEC"/>
          </a:solidFill>
          <a:ln w="11430">
            <a:solidFill>
              <a:srgbClr val="B91C1C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10629900" y="4419600"/>
            <a:ext cx="3371850" cy="425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80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What remains honest</a:t>
            </a:r>
            <a:endParaRPr sz="1800" b="1">
              <a:solidFill>
                <a:srgbClr val="111827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10629900" y="4762500"/>
            <a:ext cx="3371850" cy="109601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0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S7 monitoring results are valid for course demonstration and smoke testing, but they are not independent held-out clinical validation.</a:t>
            </a:r>
            <a:endParaRPr sz="1600" b="0">
              <a:solidFill>
                <a:srgbClr val="47556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2000250" y="6496050"/>
            <a:ext cx="11239500" cy="730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endParaRPr sz="2800" b="1">
              <a:solidFill>
                <a:srgbClr val="111827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571500" y="8020050"/>
            <a:ext cx="14097000" cy="92710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609600" y="8134350"/>
            <a:ext cx="11049000" cy="365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B667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090" b="0">
                <a:solidFill>
                  <a:srgbClr val="5B667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Source: current SepsisCare project documentation and verification notes</a:t>
            </a:r>
            <a:endParaRPr sz="1090" b="0">
              <a:solidFill>
                <a:srgbClr val="5B6678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13906500" y="8134350"/>
            <a:ext cx="762000" cy="365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5B6678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1400" b="1">
                <a:solidFill>
                  <a:srgbClr val="5B6678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04</a:t>
            </a:r>
            <a:endParaRPr sz="1400" b="1">
              <a:solidFill>
                <a:srgbClr val="5B6678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5240000" cy="171450"/>
          </a:xfrm>
          <a:prstGeom prst="rect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171450"/>
            <a:ext cx="15240000" cy="19050"/>
          </a:xfrm>
          <a:prstGeom prst="rect">
            <a:avLst/>
          </a:prstGeom>
          <a:solidFill>
            <a:srgbClr val="15803D"/>
          </a:solidFill>
          <a:ln w="0">
            <a:solidFill>
              <a:srgbClr val="15803D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811000" y="323850"/>
            <a:ext cx="2857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5B6678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1000" b="1">
                <a:solidFill>
                  <a:srgbClr val="5B6678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RESEARCH</a:t>
            </a:r>
            <a:endParaRPr sz="1000" b="1">
              <a:solidFill>
                <a:srgbClr val="5B6678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457200"/>
            <a:ext cx="9906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20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Dynamic Phenotyping</a:t>
            </a:r>
            <a:endParaRPr sz="3200" b="1">
              <a:solidFill>
                <a:srgbClr val="111827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28650" y="1028700"/>
            <a:ext cx="11239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B667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800" b="0">
                <a:solidFill>
                  <a:srgbClr val="5B667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 patient trajectory is represented as rolling windows, then clustered into interpretable phenotype states.</a:t>
            </a:r>
            <a:endParaRPr sz="1800" b="0">
              <a:solidFill>
                <a:srgbClr val="5B6678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647700" y="1695450"/>
            <a:ext cx="9029700" cy="4991100"/>
          </a:xfrm>
          <a:prstGeom prst="roundRect">
            <a:avLst>
              <a:gd name="adj" fmla="val 1527"/>
            </a:avLst>
          </a:prstGeom>
          <a:solidFill>
            <a:srgbClr val="FFFFFF"/>
          </a:solidFill>
          <a:ln w="9525">
            <a:solidFill>
              <a:srgbClr val="15803D"/>
            </a:solidFill>
            <a:prstDash val="solid"/>
          </a:ln>
        </p:spPr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34473"/>
            <a:ext cx="8953500" cy="4913055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10191750" y="1767205"/>
            <a:ext cx="3810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00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S2 discovers phenotype transitions; S3 checks whether the same structure survives a Center A to Center B transfer.</a:t>
            </a:r>
            <a:endParaRPr sz="2000" b="1">
              <a:solidFill>
                <a:srgbClr val="111827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10191750" y="3143250"/>
            <a:ext cx="1762125" cy="342900"/>
          </a:xfrm>
          <a:prstGeom prst="roundRect">
            <a:avLst>
              <a:gd name="adj" fmla="val 22222"/>
            </a:avLst>
          </a:prstGeom>
          <a:solidFill>
            <a:srgbClr val="EAF2FF"/>
          </a:solidFill>
          <a:ln w="9525">
            <a:solidFill>
              <a:srgbClr val="1F6FEB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0287000" y="3209925"/>
            <a:ext cx="15716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1F6FE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1200" b="1">
                <a:solidFill>
                  <a:srgbClr val="1F6FE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5 rolling windows</a:t>
            </a:r>
            <a:endParaRPr sz="1200" b="1">
              <a:solidFill>
                <a:srgbClr val="1F6FEB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12144375" y="3143250"/>
            <a:ext cx="1762125" cy="342900"/>
          </a:xfrm>
          <a:prstGeom prst="roundRect">
            <a:avLst>
              <a:gd name="adj" fmla="val 22222"/>
            </a:avLst>
          </a:prstGeom>
          <a:solidFill>
            <a:srgbClr val="EAF7EE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2239625" y="3209925"/>
            <a:ext cx="15716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15803D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1200" b="1">
                <a:solidFill>
                  <a:srgbClr val="15803D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4 phenotypes</a:t>
            </a:r>
            <a:endParaRPr sz="1200" b="1">
              <a:solidFill>
                <a:srgbClr val="15803D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10191750" y="3714750"/>
            <a:ext cx="3714750" cy="342900"/>
          </a:xfrm>
          <a:prstGeom prst="roundRect">
            <a:avLst>
              <a:gd name="adj" fmla="val 22222"/>
            </a:avLst>
          </a:prstGeom>
          <a:solidFill>
            <a:srgbClr val="FDECEC"/>
          </a:solidFill>
          <a:ln w="9525">
            <a:solidFill>
              <a:srgbClr val="B91C1C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0287000" y="3781425"/>
            <a:ext cx="3524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B91C1C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1200" b="1">
                <a:solidFill>
                  <a:srgbClr val="B91C1C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P2 retained as highest-risk stable state</a:t>
            </a:r>
            <a:endParaRPr sz="1200" b="1">
              <a:solidFill>
                <a:srgbClr val="B91C1C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10191750" y="4629150"/>
            <a:ext cx="3714750" cy="819150"/>
          </a:xfrm>
          <a:prstGeom prst="roundRect">
            <a:avLst>
              <a:gd name="adj" fmla="val 9302"/>
            </a:avLst>
          </a:prstGeom>
          <a:solidFill>
            <a:srgbClr val="FFF3D6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0325100" y="4724400"/>
            <a:ext cx="34480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0">
                <a:solidFill>
                  <a:srgbClr val="D97706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1400" b="0">
                <a:solidFill>
                  <a:srgbClr val="D97706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Phenotypes are a communication layer between time-series embeddings and bedside interpretation.</a:t>
            </a:r>
            <a:endParaRPr sz="1400" b="0">
              <a:solidFill>
                <a:srgbClr val="D97706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0210800" y="5953125"/>
            <a:ext cx="36576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0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This is why the app can explain not only risk level, but also trajectory and comparable historical cases.</a:t>
            </a:r>
            <a:endParaRPr sz="1600" b="0">
              <a:solidFill>
                <a:srgbClr val="47556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71500" y="8020050"/>
            <a:ext cx="140970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09600" y="8134350"/>
            <a:ext cx="1104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B667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800" b="0">
                <a:solidFill>
                  <a:srgbClr val="5B667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Source visual: 03_documentation/figures/fig2_s2_s3.png</a:t>
            </a:r>
            <a:endParaRPr sz="800" b="0">
              <a:solidFill>
                <a:srgbClr val="5B6678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3906500" y="8134350"/>
            <a:ext cx="76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5B6678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1000" b="1">
                <a:solidFill>
                  <a:srgbClr val="5B6678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05</a:t>
            </a:r>
            <a:endParaRPr sz="1000" b="1">
              <a:solidFill>
                <a:srgbClr val="5B6678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5240000" cy="171450"/>
          </a:xfrm>
          <a:prstGeom prst="rect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171450"/>
            <a:ext cx="15240000" cy="19050"/>
          </a:xfrm>
          <a:prstGeom prst="rect">
            <a:avLst/>
          </a:prstGeom>
          <a:solidFill>
            <a:srgbClr val="15803D"/>
          </a:solidFill>
          <a:ln w="0">
            <a:solidFill>
              <a:srgbClr val="15803D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811000" y="323850"/>
            <a:ext cx="2857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5B6678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975" b="1">
                <a:solidFill>
                  <a:srgbClr val="5B6678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MODEL</a:t>
            </a:r>
            <a:endParaRPr sz="975" b="1">
              <a:solidFill>
                <a:srgbClr val="5B6678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457200"/>
            <a:ext cx="9906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60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Final S7 Model</a:t>
            </a:r>
            <a:endParaRPr sz="3600" b="1">
              <a:solidFill>
                <a:srgbClr val="111827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28650" y="1028700"/>
            <a:ext cx="11239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B667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800" b="0">
                <a:solidFill>
                  <a:srgbClr val="5B667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Missingness-aware GRU plus source-balanced GroupDRO, phenotype CE, and supervised contrastive regularization.</a:t>
            </a:r>
            <a:endParaRPr sz="1800" b="0">
              <a:solidFill>
                <a:srgbClr val="5B6678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609600" y="1695450"/>
            <a:ext cx="9601200" cy="5295900"/>
          </a:xfrm>
          <a:prstGeom prst="roundRect">
            <a:avLst>
              <a:gd name="adj" fmla="val 1439"/>
            </a:avLst>
          </a:prstGeom>
          <a:solidFill>
            <a:srgbClr val="FFFFFF"/>
          </a:solidFill>
          <a:ln w="9525">
            <a:solidFill>
              <a:srgbClr val="6D28D9"/>
            </a:solidFill>
            <a:prstDash val="solid"/>
          </a:ln>
        </p:spPr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036" y="1733550"/>
            <a:ext cx="9512327" cy="5219700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10572750" y="1809750"/>
            <a:ext cx="34290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80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 final encoder treats missingness as signal, not just an inconvenience.</a:t>
            </a:r>
            <a:endParaRPr sz="1800" b="1">
              <a:solidFill>
                <a:srgbClr val="111827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10572750" y="2800350"/>
            <a:ext cx="1619250" cy="1066800"/>
          </a:xfrm>
          <a:prstGeom prst="roundRect">
            <a:avLst>
              <a:gd name="adj" fmla="val 7143"/>
            </a:avLst>
          </a:prstGeom>
          <a:solidFill>
            <a:srgbClr val="F6F8FB"/>
          </a:solidFill>
          <a:ln w="10478">
            <a:solidFill>
              <a:srgbClr val="475569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0706100" y="2933700"/>
            <a:ext cx="13525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75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80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31,319</a:t>
            </a:r>
            <a:endParaRPr sz="2800" b="1">
              <a:solidFill>
                <a:srgbClr val="111827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0706100" y="3333750"/>
            <a:ext cx="13525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80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parameters</a:t>
            </a:r>
            <a:endParaRPr sz="1800" b="0">
              <a:solidFill>
                <a:srgbClr val="47556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12382500" y="2800350"/>
            <a:ext cx="1619250" cy="1066800"/>
          </a:xfrm>
          <a:prstGeom prst="roundRect">
            <a:avLst>
              <a:gd name="adj" fmla="val 7143"/>
            </a:avLst>
          </a:prstGeom>
          <a:solidFill>
            <a:srgbClr val="F6F8FB"/>
          </a:solidFill>
          <a:ln w="10478">
            <a:solidFill>
              <a:srgbClr val="475569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2515850" y="2933700"/>
            <a:ext cx="13525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325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20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7</a:t>
            </a:r>
            <a:endParaRPr sz="3200" b="1">
              <a:solidFill>
                <a:srgbClr val="111827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2515850" y="3333750"/>
            <a:ext cx="13525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40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GPU count</a:t>
            </a:r>
            <a:endParaRPr sz="1400" b="0">
              <a:solidFill>
                <a:srgbClr val="47556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10572750" y="4133850"/>
            <a:ext cx="1619250" cy="1066800"/>
          </a:xfrm>
          <a:prstGeom prst="roundRect">
            <a:avLst>
              <a:gd name="adj" fmla="val 7143"/>
            </a:avLst>
          </a:prstGeom>
          <a:solidFill>
            <a:srgbClr val="EAF7EE"/>
          </a:solidFill>
          <a:ln w="10478">
            <a:solidFill>
              <a:srgbClr val="15803D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0706100" y="4267200"/>
            <a:ext cx="13525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15803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200" b="1">
                <a:solidFill>
                  <a:srgbClr val="15803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0.971</a:t>
            </a:r>
            <a:endParaRPr sz="3200" b="1">
              <a:solidFill>
                <a:srgbClr val="15803D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0706100" y="4667250"/>
            <a:ext cx="13525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40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encoder-only Macro F1</a:t>
            </a:r>
            <a:endParaRPr sz="1400" b="0">
              <a:solidFill>
                <a:srgbClr val="47556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12382500" y="4133850"/>
            <a:ext cx="1619250" cy="1066800"/>
          </a:xfrm>
          <a:prstGeom prst="roundRect">
            <a:avLst>
              <a:gd name="adj" fmla="val 7143"/>
            </a:avLst>
          </a:prstGeom>
          <a:solidFill>
            <a:srgbClr val="EAF2FF"/>
          </a:solidFill>
          <a:ln w="10478">
            <a:solidFill>
              <a:srgbClr val="1F6FEB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2515850" y="4267200"/>
            <a:ext cx="13525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1F6FE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200" b="1">
                <a:solidFill>
                  <a:srgbClr val="1F6FE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0.956</a:t>
            </a:r>
            <a:endParaRPr sz="3200" b="1">
              <a:solidFill>
                <a:srgbClr val="1F6FE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2515850" y="4667250"/>
            <a:ext cx="13525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40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smoothed Macro F1</a:t>
            </a:r>
            <a:endParaRPr sz="1400" b="0">
              <a:solidFill>
                <a:srgbClr val="47556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0591800" y="5715000"/>
            <a:ext cx="34290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0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Key design choice: combine auxiliary clinical tasks with phenotype-specific supervision so deployment can serve risk, trajectory, and explanation views.</a:t>
            </a:r>
            <a:endParaRPr sz="1500" b="0">
              <a:solidFill>
                <a:srgbClr val="47556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1500" y="8020050"/>
            <a:ext cx="140970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609600" y="8134350"/>
            <a:ext cx="1104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B667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790" b="0">
                <a:solidFill>
                  <a:srgbClr val="5B667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Source visual: 03_documentation/figures/fig3_s6_s7.png</a:t>
            </a:r>
            <a:endParaRPr sz="790" b="0">
              <a:solidFill>
                <a:srgbClr val="5B6678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3906500" y="8134350"/>
            <a:ext cx="76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5B6678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900" b="1">
                <a:solidFill>
                  <a:srgbClr val="5B6678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06</a:t>
            </a:r>
            <a:endParaRPr sz="900" b="1">
              <a:solidFill>
                <a:srgbClr val="5B6678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5240000" cy="171450"/>
          </a:xfrm>
          <a:prstGeom prst="rect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171450"/>
            <a:ext cx="15240000" cy="19050"/>
          </a:xfrm>
          <a:prstGeom prst="rect">
            <a:avLst/>
          </a:prstGeom>
          <a:solidFill>
            <a:srgbClr val="15803D"/>
          </a:solidFill>
          <a:ln w="0">
            <a:solidFill>
              <a:srgbClr val="15803D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811000" y="323850"/>
            <a:ext cx="2857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5B6678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1200" b="1">
                <a:solidFill>
                  <a:srgbClr val="5B6678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RESULTS</a:t>
            </a:r>
            <a:endParaRPr sz="1200" b="1">
              <a:solidFill>
                <a:srgbClr val="5B6678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457200"/>
            <a:ext cx="9906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20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Key Results and Evidence Boundary</a:t>
            </a:r>
            <a:endParaRPr sz="3200" b="1">
              <a:solidFill>
                <a:srgbClr val="111827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28650" y="1028700"/>
            <a:ext cx="11239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B667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00" b="0">
                <a:solidFill>
                  <a:srgbClr val="5B667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 metrics support course demonstration and engineering validation, not independent clinical claims.</a:t>
            </a:r>
            <a:endParaRPr sz="1600" b="0">
              <a:solidFill>
                <a:srgbClr val="5B6678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57250" y="1809750"/>
            <a:ext cx="2095500" cy="1066800"/>
          </a:xfrm>
          <a:prstGeom prst="roundRect">
            <a:avLst>
              <a:gd name="adj" fmla="val 7143"/>
            </a:avLst>
          </a:prstGeom>
          <a:solidFill>
            <a:srgbClr val="EAF7EE"/>
          </a:solidFill>
          <a:ln w="10478">
            <a:solidFill>
              <a:srgbClr val="15803D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90600" y="1943100"/>
            <a:ext cx="18288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15803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800" b="1">
                <a:solidFill>
                  <a:srgbClr val="15803D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0.956</a:t>
            </a:r>
            <a:endParaRPr sz="2800" b="1">
              <a:solidFill>
                <a:srgbClr val="15803D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90600" y="2343150"/>
            <a:ext cx="1828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0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encoder + transition Macro F1</a:t>
            </a:r>
            <a:endParaRPr sz="1200" b="0">
              <a:solidFill>
                <a:srgbClr val="47556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3238500" y="1809750"/>
            <a:ext cx="2095500" cy="1066800"/>
          </a:xfrm>
          <a:prstGeom prst="roundRect">
            <a:avLst>
              <a:gd name="adj" fmla="val 7143"/>
            </a:avLst>
          </a:prstGeom>
          <a:solidFill>
            <a:srgbClr val="EAF2FF"/>
          </a:solidFill>
          <a:ln w="10478">
            <a:solidFill>
              <a:srgbClr val="1F6FEB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3371850" y="1943100"/>
            <a:ext cx="18288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1F6FE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800" b="1">
                <a:solidFill>
                  <a:srgbClr val="1F6FEB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0.832</a:t>
            </a:r>
            <a:endParaRPr sz="2800" b="1">
              <a:solidFill>
                <a:srgbClr val="1F6FEB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371850" y="2343150"/>
            <a:ext cx="1828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0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full-patient match rate</a:t>
            </a:r>
            <a:endParaRPr sz="1200" b="0">
              <a:solidFill>
                <a:srgbClr val="47556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5619750" y="1809750"/>
            <a:ext cx="2095500" cy="1066800"/>
          </a:xfrm>
          <a:prstGeom prst="roundRect">
            <a:avLst>
              <a:gd name="adj" fmla="val 7143"/>
            </a:avLst>
          </a:prstGeom>
          <a:solidFill>
            <a:srgbClr val="F1EAFE"/>
          </a:solidFill>
          <a:ln w="10478">
            <a:solidFill>
              <a:srgbClr val="6D28D9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5753100" y="1943100"/>
            <a:ext cx="18288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6D28D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800" b="1">
                <a:solidFill>
                  <a:srgbClr val="6D28D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0.848</a:t>
            </a:r>
            <a:endParaRPr sz="2800" b="1">
              <a:solidFill>
                <a:srgbClr val="6D28D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753100" y="2343150"/>
            <a:ext cx="1828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0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mortality AUROC</a:t>
            </a:r>
            <a:endParaRPr sz="1200" b="0">
              <a:solidFill>
                <a:srgbClr val="47556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8001000" y="1809750"/>
            <a:ext cx="2095500" cy="1066800"/>
          </a:xfrm>
          <a:prstGeom prst="roundRect">
            <a:avLst>
              <a:gd name="adj" fmla="val 7143"/>
            </a:avLst>
          </a:prstGeom>
          <a:solidFill>
            <a:srgbClr val="FFF3D6"/>
          </a:solidFill>
          <a:ln w="10478">
            <a:solidFill>
              <a:srgbClr val="D97706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134350" y="1943100"/>
            <a:ext cx="18288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D9770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800" b="1">
                <a:solidFill>
                  <a:srgbClr val="D9770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0.968</a:t>
            </a:r>
            <a:endParaRPr sz="2800" b="1">
              <a:solidFill>
                <a:srgbClr val="D9770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134350" y="2343150"/>
            <a:ext cx="1828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0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next ventilation AUROC</a:t>
            </a:r>
            <a:endParaRPr sz="1200" b="0">
              <a:solidFill>
                <a:srgbClr val="47556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10382250" y="1809750"/>
            <a:ext cx="2095500" cy="1066800"/>
          </a:xfrm>
          <a:prstGeom prst="roundRect">
            <a:avLst>
              <a:gd name="adj" fmla="val 7143"/>
            </a:avLst>
          </a:prstGeom>
          <a:solidFill>
            <a:srgbClr val="F6F8FB"/>
          </a:solidFill>
          <a:ln w="10478">
            <a:solidFill>
              <a:srgbClr val="475569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0515600" y="1943100"/>
            <a:ext cx="18288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40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2.955 h</a:t>
            </a:r>
            <a:endParaRPr sz="2400" b="1">
              <a:solidFill>
                <a:srgbClr val="111827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515600" y="2343150"/>
            <a:ext cx="1828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0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remaining LOS MAE</a:t>
            </a:r>
            <a:endParaRPr sz="1200" b="0">
              <a:solidFill>
                <a:srgbClr val="47556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143000" y="4143375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400" b="0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Rule baseline</a:t>
            </a:r>
            <a:endParaRPr sz="1400" b="0">
              <a:solidFill>
                <a:srgbClr val="111827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2952750" y="4162425"/>
            <a:ext cx="5334000" cy="171450"/>
          </a:xfrm>
          <a:prstGeom prst="rect">
            <a:avLst/>
          </a:prstGeom>
          <a:solidFill>
            <a:srgbClr val="EEF2F7"/>
          </a:solidFill>
          <a:ln w="0">
            <a:solidFill>
              <a:srgbClr val="EEF2F7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2952750" y="4162425"/>
            <a:ext cx="757428" cy="1714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8401050" y="4114800"/>
            <a:ext cx="723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475569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1400" b="1">
                <a:solidFill>
                  <a:srgbClr val="475569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0.142</a:t>
            </a:r>
            <a:endParaRPr sz="1400" b="1">
              <a:solidFill>
                <a:srgbClr val="475569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143000" y="4505325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400" b="0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S6 v2</a:t>
            </a:r>
            <a:endParaRPr sz="1400" b="0">
              <a:solidFill>
                <a:srgbClr val="111827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2952750" y="4524375"/>
            <a:ext cx="5334000" cy="171450"/>
          </a:xfrm>
          <a:prstGeom prst="rect">
            <a:avLst/>
          </a:prstGeom>
          <a:solidFill>
            <a:srgbClr val="EEF2F7"/>
          </a:solidFill>
          <a:ln w="0">
            <a:solidFill>
              <a:srgbClr val="EEF2F7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2952750" y="4524375"/>
            <a:ext cx="4379214" cy="171450"/>
          </a:xfrm>
          <a:prstGeom prst="rect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8401050" y="4476750"/>
            <a:ext cx="723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F6FE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1400" b="1">
                <a:solidFill>
                  <a:srgbClr val="1F6FE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0.821</a:t>
            </a:r>
            <a:endParaRPr sz="1400" b="1">
              <a:solidFill>
                <a:srgbClr val="1F6FEB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143000" y="4867275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400" b="0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GroupDRO</a:t>
            </a:r>
            <a:endParaRPr sz="1400" b="0">
              <a:solidFill>
                <a:srgbClr val="111827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2952750" y="4886325"/>
            <a:ext cx="5334000" cy="171450"/>
          </a:xfrm>
          <a:prstGeom prst="rect">
            <a:avLst/>
          </a:prstGeom>
          <a:solidFill>
            <a:srgbClr val="EEF2F7"/>
          </a:solidFill>
          <a:ln w="0">
            <a:solidFill>
              <a:srgbClr val="EEF2F7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2952750" y="4886325"/>
            <a:ext cx="4299204" cy="17145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8401050" y="4838700"/>
            <a:ext cx="723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D97706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1400" b="1">
                <a:solidFill>
                  <a:srgbClr val="D97706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0.806</a:t>
            </a:r>
            <a:endParaRPr sz="1400" b="1">
              <a:solidFill>
                <a:srgbClr val="D97706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1143000" y="5229225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400" b="0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S7 encoder</a:t>
            </a:r>
            <a:endParaRPr sz="1400" b="0">
              <a:solidFill>
                <a:srgbClr val="111827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2952750" y="5248275"/>
            <a:ext cx="5334000" cy="171450"/>
          </a:xfrm>
          <a:prstGeom prst="rect">
            <a:avLst/>
          </a:prstGeom>
          <a:solidFill>
            <a:srgbClr val="EEF2F7"/>
          </a:solidFill>
          <a:ln w="0">
            <a:solidFill>
              <a:srgbClr val="EEF2F7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2952750" y="5248275"/>
            <a:ext cx="5179314" cy="171450"/>
          </a:xfrm>
          <a:prstGeom prst="rect">
            <a:avLst/>
          </a:prstGeom>
          <a:solidFill>
            <a:srgbClr val="15803D"/>
          </a:solidFill>
          <a:ln w="0">
            <a:solidFill>
              <a:srgbClr val="15803D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8401050" y="5200650"/>
            <a:ext cx="723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5803D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1400" b="1">
                <a:solidFill>
                  <a:srgbClr val="15803D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0.971</a:t>
            </a:r>
            <a:endParaRPr sz="1400" b="1">
              <a:solidFill>
                <a:srgbClr val="15803D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1143000" y="5591175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400" b="0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S7 smooth</a:t>
            </a:r>
            <a:endParaRPr sz="1400" b="0">
              <a:solidFill>
                <a:srgbClr val="111827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2952750" y="5610225"/>
            <a:ext cx="5334000" cy="171450"/>
          </a:xfrm>
          <a:prstGeom prst="rect">
            <a:avLst/>
          </a:prstGeom>
          <a:solidFill>
            <a:srgbClr val="EEF2F7"/>
          </a:solidFill>
          <a:ln w="0">
            <a:solidFill>
              <a:srgbClr val="EEF2F7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2952750" y="5610225"/>
            <a:ext cx="5099304" cy="171450"/>
          </a:xfrm>
          <a:prstGeom prst="rect">
            <a:avLst/>
          </a:prstGeom>
          <a:solidFill>
            <a:srgbClr val="6D28D9"/>
          </a:solidFill>
          <a:ln w="0">
            <a:solidFill>
              <a:srgbClr val="6D28D9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8401050" y="5562600"/>
            <a:ext cx="723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6D28D9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1400" b="1">
                <a:solidFill>
                  <a:srgbClr val="6D28D9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0.956</a:t>
            </a:r>
            <a:endParaRPr sz="1400" b="1">
              <a:solidFill>
                <a:srgbClr val="6D28D9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10096500" y="4095750"/>
            <a:ext cx="38100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40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 strongest evidence is phenotype consistency on the demonstration monitoring split plus working API/model smoke tests.</a:t>
            </a:r>
            <a:endParaRPr sz="2400" b="1">
              <a:solidFill>
                <a:srgbClr val="111827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571500" y="8020050"/>
            <a:ext cx="140970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609600" y="8134350"/>
            <a:ext cx="1104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B667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900" b="0">
                <a:solidFill>
                  <a:srgbClr val="5B667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Source: S7 result table and report boundary note</a:t>
            </a:r>
            <a:endParaRPr sz="900" b="0">
              <a:solidFill>
                <a:srgbClr val="5B6678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13906500" y="8134350"/>
            <a:ext cx="76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5B6678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1200" b="1">
                <a:solidFill>
                  <a:srgbClr val="5B6678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07</a:t>
            </a:r>
            <a:endParaRPr sz="1200" b="1">
              <a:solidFill>
                <a:srgbClr val="5B6678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5240000" cy="171450"/>
          </a:xfrm>
          <a:prstGeom prst="rect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171450"/>
            <a:ext cx="15240000" cy="19050"/>
          </a:xfrm>
          <a:prstGeom prst="rect">
            <a:avLst/>
          </a:prstGeom>
          <a:solidFill>
            <a:srgbClr val="15803D"/>
          </a:solidFill>
          <a:ln w="0">
            <a:solidFill>
              <a:srgbClr val="15803D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811000" y="323850"/>
            <a:ext cx="2857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5B6678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1200" b="1">
                <a:solidFill>
                  <a:srgbClr val="5B6678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PRODUCT</a:t>
            </a:r>
            <a:endParaRPr sz="1200" b="1">
              <a:solidFill>
                <a:srgbClr val="5B6678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457200"/>
            <a:ext cx="9906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20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Multi-Role Product Experience</a:t>
            </a:r>
            <a:endParaRPr sz="3200" b="1">
              <a:solidFill>
                <a:srgbClr val="111827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28650" y="1028700"/>
            <a:ext cx="11239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B667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00" b="0">
                <a:solidFill>
                  <a:srgbClr val="5B667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 model is wrapped in workflows for doctors, researchers, family communication, and administration.</a:t>
            </a:r>
            <a:endParaRPr sz="1600" b="0">
              <a:solidFill>
                <a:srgbClr val="5B6678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628650" y="1752600"/>
            <a:ext cx="4171950" cy="264795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9525">
            <a:solidFill>
              <a:srgbClr val="1F6FEB"/>
            </a:solidFill>
            <a:prstDash val="solid"/>
          </a:ln>
        </p:spPr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rcRect l="1" r="1"/>
          <a:stretch>
            <a:fillRect/>
          </a:stretch>
        </p:blipFill>
        <p:spPr>
          <a:xfrm>
            <a:off x="666750" y="1790700"/>
            <a:ext cx="4095750" cy="2571750"/>
          </a:xfrm>
          <a:prstGeom prst="rect">
            <a:avLst/>
          </a:prstGeom>
        </p:spPr>
      </p:pic>
      <p:sp>
        <p:nvSpPr>
          <p:cNvPr id="10" name="圆角矩形 9"/>
          <p:cNvSpPr>
            <a:spLocks noGrp="1"/>
          </p:cNvSpPr>
          <p:nvPr/>
        </p:nvSpPr>
        <p:spPr>
          <a:xfrm>
            <a:off x="4914900" y="1752600"/>
            <a:ext cx="4171950" cy="264795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9525">
            <a:solidFill>
              <a:srgbClr val="15803D"/>
            </a:solidFill>
            <a:prstDash val="solid"/>
          </a:ln>
        </p:spPr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4953000" y="1790700"/>
            <a:ext cx="4095750" cy="2571750"/>
          </a:xfrm>
          <a:prstGeom prst="rect">
            <a:avLst/>
          </a:prstGeom>
        </p:spPr>
      </p:pic>
      <p:sp>
        <p:nvSpPr>
          <p:cNvPr id="12" name="圆角矩形 11"/>
          <p:cNvSpPr>
            <a:spLocks noGrp="1"/>
          </p:cNvSpPr>
          <p:nvPr/>
        </p:nvSpPr>
        <p:spPr>
          <a:xfrm>
            <a:off x="9201150" y="1752600"/>
            <a:ext cx="4171950" cy="264795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rcRect l="1" r="1"/>
          <a:stretch>
            <a:fillRect/>
          </a:stretch>
        </p:blipFill>
        <p:spPr>
          <a:xfrm>
            <a:off x="9239250" y="1790700"/>
            <a:ext cx="4095750" cy="2571750"/>
          </a:xfrm>
          <a:prstGeom prst="rect">
            <a:avLst/>
          </a:prstGeom>
        </p:spPr>
      </p:pic>
      <p:sp>
        <p:nvSpPr>
          <p:cNvPr id="14" name="圆角矩形 13"/>
          <p:cNvSpPr>
            <a:spLocks noGrp="1"/>
          </p:cNvSpPr>
          <p:nvPr/>
        </p:nvSpPr>
        <p:spPr>
          <a:xfrm>
            <a:off x="1524000" y="4591050"/>
            <a:ext cx="2381250" cy="342900"/>
          </a:xfrm>
          <a:prstGeom prst="roundRect">
            <a:avLst>
              <a:gd name="adj" fmla="val 22222"/>
            </a:avLst>
          </a:prstGeom>
          <a:solidFill>
            <a:srgbClr val="EAF2FF"/>
          </a:solidFill>
          <a:ln w="9525">
            <a:solidFill>
              <a:srgbClr val="1F6FEB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619250" y="4657725"/>
            <a:ext cx="2190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1F6FE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1400" b="1">
                <a:solidFill>
                  <a:srgbClr val="1F6FE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Doctor risk board</a:t>
            </a:r>
            <a:endParaRPr sz="1400" b="1">
              <a:solidFill>
                <a:srgbClr val="1F6FEB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5810250" y="4591050"/>
            <a:ext cx="2381250" cy="342900"/>
          </a:xfrm>
          <a:prstGeom prst="roundRect">
            <a:avLst>
              <a:gd name="adj" fmla="val 22222"/>
            </a:avLst>
          </a:prstGeom>
          <a:solidFill>
            <a:srgbClr val="EAF7EE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5905500" y="4657725"/>
            <a:ext cx="2190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15803D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1400" b="1">
                <a:solidFill>
                  <a:srgbClr val="15803D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Historical ICU search</a:t>
            </a:r>
            <a:endParaRPr sz="1400" b="1">
              <a:solidFill>
                <a:srgbClr val="15803D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10096500" y="4591050"/>
            <a:ext cx="2381250" cy="342900"/>
          </a:xfrm>
          <a:prstGeom prst="roundRect">
            <a:avLst>
              <a:gd name="adj" fmla="val 22222"/>
            </a:avLst>
          </a:prstGeom>
          <a:solidFill>
            <a:srgbClr val="FFF3D6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0191750" y="4657725"/>
            <a:ext cx="2190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D97706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1400" b="1">
                <a:solidFill>
                  <a:srgbClr val="D97706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Admin / model status</a:t>
            </a:r>
            <a:endParaRPr sz="1400" b="1">
              <a:solidFill>
                <a:srgbClr val="D97706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143000" y="5619750"/>
            <a:ext cx="3429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80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Doctor view: current queue, risk explanation, trends, phenotype, and model status.</a:t>
            </a:r>
            <a:endParaRPr sz="1800" b="0">
              <a:solidFill>
                <a:srgbClr val="47556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429250" y="5619750"/>
            <a:ext cx="3429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80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Research view: historical patients, detail panels, cohort evidence, and model experiment outputs.</a:t>
            </a:r>
            <a:endParaRPr sz="1800" b="0">
              <a:solidFill>
                <a:srgbClr val="47556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715500" y="5619750"/>
            <a:ext cx="3429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80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Admin and family workflows: service monitor, AI explanation, account binding, and audit visibility.</a:t>
            </a:r>
            <a:endParaRPr sz="1800" b="0">
              <a:solidFill>
                <a:srgbClr val="47556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71500" y="8020050"/>
            <a:ext cx="140970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609600" y="8134350"/>
            <a:ext cx="1104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B667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990" b="0">
                <a:solidFill>
                  <a:srgbClr val="5B667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Source visuals: installed-app screenshots in 03_documentation/figures</a:t>
            </a:r>
            <a:endParaRPr sz="990" b="0">
              <a:solidFill>
                <a:srgbClr val="5B6678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3906500" y="8134350"/>
            <a:ext cx="76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5B6678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1200" b="1">
                <a:solidFill>
                  <a:srgbClr val="5B6678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08</a:t>
            </a:r>
            <a:endParaRPr sz="1200" b="1">
              <a:solidFill>
                <a:srgbClr val="5B6678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5240000" cy="171450"/>
          </a:xfrm>
          <a:prstGeom prst="rect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171450"/>
            <a:ext cx="15240000" cy="19050"/>
          </a:xfrm>
          <a:prstGeom prst="rect">
            <a:avLst/>
          </a:prstGeom>
          <a:solidFill>
            <a:srgbClr val="15803D"/>
          </a:solidFill>
          <a:ln w="0">
            <a:solidFill>
              <a:srgbClr val="15803D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811000" y="323850"/>
            <a:ext cx="2857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5B6678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975" b="1">
                <a:solidFill>
                  <a:srgbClr val="5B6678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SYSTEM</a:t>
            </a:r>
            <a:endParaRPr sz="975" b="1">
              <a:solidFill>
                <a:srgbClr val="5B6678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457200"/>
            <a:ext cx="9906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60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Software Architecture and API Flow</a:t>
            </a:r>
            <a:endParaRPr sz="3600" b="1">
              <a:solidFill>
                <a:srgbClr val="111827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28650" y="1028700"/>
            <a:ext cx="11239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B667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800" b="0">
                <a:solidFill>
                  <a:srgbClr val="5B667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Multiple clients share a standard HTTP API while model, AI, runtime data, and training terminal remain replaceable.</a:t>
            </a:r>
            <a:endParaRPr sz="1800" b="0">
              <a:solidFill>
                <a:srgbClr val="5B6678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552450" y="1714500"/>
            <a:ext cx="6219825" cy="455295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 w="9525">
            <a:solidFill>
              <a:srgbClr val="1F6FEB"/>
            </a:solidFill>
            <a:prstDash val="solid"/>
          </a:ln>
        </p:spPr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358" y="1752600"/>
            <a:ext cx="4856010" cy="4476750"/>
          </a:xfrm>
          <a:prstGeom prst="rect">
            <a:avLst/>
          </a:prstGeom>
        </p:spPr>
      </p:pic>
      <p:sp>
        <p:nvSpPr>
          <p:cNvPr id="10" name="圆角矩形 9"/>
          <p:cNvSpPr>
            <a:spLocks noGrp="1"/>
          </p:cNvSpPr>
          <p:nvPr/>
        </p:nvSpPr>
        <p:spPr>
          <a:xfrm>
            <a:off x="7219950" y="1714500"/>
            <a:ext cx="6219825" cy="455295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 w="9525">
            <a:solidFill>
              <a:srgbClr val="15803D"/>
            </a:solidFill>
            <a:prstDash val="solid"/>
          </a:ln>
        </p:spPr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8050" y="1943100"/>
            <a:ext cx="6143625" cy="4095750"/>
          </a:xfrm>
          <a:prstGeom prst="rect">
            <a:avLst/>
          </a:prstGeom>
        </p:spPr>
      </p:pic>
      <p:sp>
        <p:nvSpPr>
          <p:cNvPr id="12" name="圆角矩形 11"/>
          <p:cNvSpPr>
            <a:spLocks noGrp="1"/>
          </p:cNvSpPr>
          <p:nvPr/>
        </p:nvSpPr>
        <p:spPr>
          <a:xfrm>
            <a:off x="1333500" y="6572250"/>
            <a:ext cx="2000250" cy="342900"/>
          </a:xfrm>
          <a:prstGeom prst="roundRect">
            <a:avLst>
              <a:gd name="adj" fmla="val 22222"/>
            </a:avLst>
          </a:prstGeom>
          <a:solidFill>
            <a:srgbClr val="EAF2FF"/>
          </a:solidFill>
          <a:ln w="9525">
            <a:solidFill>
              <a:srgbClr val="1F6FEB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428750" y="6638925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1F6FE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1050" b="1">
                <a:solidFill>
                  <a:srgbClr val="1F6FE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macOS / Windows / Android</a:t>
            </a:r>
            <a:endParaRPr sz="1050" b="1">
              <a:solidFill>
                <a:srgbClr val="1F6FEB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3733800" y="6572250"/>
            <a:ext cx="2000250" cy="342900"/>
          </a:xfrm>
          <a:prstGeom prst="roundRect">
            <a:avLst>
              <a:gd name="adj" fmla="val 22222"/>
            </a:avLst>
          </a:prstGeom>
          <a:solidFill>
            <a:srgbClr val="EAF7EE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3829050" y="6638925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15803D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1050" b="1">
                <a:solidFill>
                  <a:srgbClr val="15803D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server.py API gateway</a:t>
            </a:r>
            <a:endParaRPr sz="1050" b="1">
              <a:solidFill>
                <a:srgbClr val="15803D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7381875" y="6572250"/>
            <a:ext cx="2000250" cy="342900"/>
          </a:xfrm>
          <a:prstGeom prst="roundRect">
            <a:avLst>
              <a:gd name="adj" fmla="val 22222"/>
            </a:avLst>
          </a:prstGeom>
          <a:solidFill>
            <a:srgbClr val="F1EAFE"/>
          </a:solidFill>
          <a:ln w="9525">
            <a:solidFill>
              <a:srgbClr val="6D28D9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7477125" y="6638925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6D28D9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1050" b="1">
                <a:solidFill>
                  <a:srgbClr val="6D28D9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model service</a:t>
            </a:r>
            <a:endParaRPr sz="1050" b="1">
              <a:solidFill>
                <a:srgbClr val="6D28D9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9791700" y="6572250"/>
            <a:ext cx="2000250" cy="342900"/>
          </a:xfrm>
          <a:prstGeom prst="roundRect">
            <a:avLst>
              <a:gd name="adj" fmla="val 22222"/>
            </a:avLst>
          </a:prstGeom>
          <a:solidFill>
            <a:srgbClr val="FFF3D6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9886950" y="6638925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D97706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1050" b="1">
                <a:solidFill>
                  <a:srgbClr val="D97706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DeepSeek runtime config</a:t>
            </a:r>
            <a:endParaRPr sz="1050" b="1">
              <a:solidFill>
                <a:srgbClr val="D97706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71500" y="8020050"/>
            <a:ext cx="140970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609600" y="8134350"/>
            <a:ext cx="1104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B667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790" b="0">
                <a:solidFill>
                  <a:srgbClr val="5B667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Source visuals: 03_documentation/figures/fig3.png and fig4.png</a:t>
            </a:r>
            <a:endParaRPr sz="790" b="0">
              <a:solidFill>
                <a:srgbClr val="5B6678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3906500" y="8134350"/>
            <a:ext cx="76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5B6678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900" b="1">
                <a:solidFill>
                  <a:srgbClr val="5B6678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09</a:t>
            </a:r>
            <a:endParaRPr sz="900" b="1">
              <a:solidFill>
                <a:srgbClr val="5B6678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5240000" cy="171450"/>
          </a:xfrm>
          <a:prstGeom prst="rect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171450"/>
            <a:ext cx="15240000" cy="19050"/>
          </a:xfrm>
          <a:prstGeom prst="rect">
            <a:avLst/>
          </a:prstGeom>
          <a:solidFill>
            <a:srgbClr val="15803D"/>
          </a:solidFill>
          <a:ln w="0">
            <a:solidFill>
              <a:srgbClr val="15803D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811000" y="323850"/>
            <a:ext cx="2857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5B6678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975" b="1">
                <a:solidFill>
                  <a:srgbClr val="5B6678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SECURITY</a:t>
            </a:r>
            <a:endParaRPr sz="975" b="1">
              <a:solidFill>
                <a:srgbClr val="5B6678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457200"/>
            <a:ext cx="9906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60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Network Security Hardening</a:t>
            </a:r>
            <a:endParaRPr sz="3600" b="1">
              <a:solidFill>
                <a:srgbClr val="111827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28650" y="1028700"/>
            <a:ext cx="11239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B667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000" b="0">
                <a:solidFill>
                  <a:srgbClr val="5B667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 project moved from demo-friendly local access toward explicit remote API boundaries.</a:t>
            </a:r>
            <a:endParaRPr sz="2000" b="0">
              <a:solidFill>
                <a:srgbClr val="5B6678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685800" y="2000250"/>
            <a:ext cx="2286000" cy="1457325"/>
          </a:xfrm>
          <a:prstGeom prst="roundRect">
            <a:avLst>
              <a:gd name="adj" fmla="val 6667"/>
            </a:avLst>
          </a:prstGeom>
          <a:solidFill>
            <a:srgbClr val="EAF2FF"/>
          </a:solidFill>
          <a:ln w="11430">
            <a:solidFill>
              <a:srgbClr val="1F6FEB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57250" y="2152650"/>
            <a:ext cx="1943100" cy="339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0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Client session</a:t>
            </a:r>
            <a:endParaRPr sz="1600" b="1">
              <a:solidFill>
                <a:srgbClr val="111827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57250" y="2495550"/>
            <a:ext cx="1943100" cy="68008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40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Bearer token kept session-scoped; launch token parameters are stripped.</a:t>
            </a:r>
            <a:endParaRPr sz="1400" b="0">
              <a:solidFill>
                <a:srgbClr val="47556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3619500" y="2000250"/>
            <a:ext cx="2286000" cy="1457325"/>
          </a:xfrm>
          <a:prstGeom prst="roundRect">
            <a:avLst>
              <a:gd name="adj" fmla="val 6667"/>
            </a:avLst>
          </a:prstGeom>
          <a:solidFill>
            <a:srgbClr val="EAF7EE"/>
          </a:solidFill>
          <a:ln w="11430">
            <a:solidFill>
              <a:srgbClr val="15803D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3790950" y="2152650"/>
            <a:ext cx="1943100" cy="339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0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Local API</a:t>
            </a:r>
            <a:endParaRPr sz="1600" b="1">
              <a:solidFill>
                <a:srgbClr val="111827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790950" y="2495550"/>
            <a:ext cx="1943100" cy="68008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40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Loopback remains usable for development and installed-app demos.</a:t>
            </a:r>
            <a:endParaRPr sz="1400" b="0">
              <a:solidFill>
                <a:srgbClr val="47556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6553200" y="2000250"/>
            <a:ext cx="2286000" cy="1457325"/>
          </a:xfrm>
          <a:prstGeom prst="roundRect">
            <a:avLst>
              <a:gd name="adj" fmla="val 6667"/>
            </a:avLst>
          </a:prstGeom>
          <a:solidFill>
            <a:srgbClr val="FDECEC"/>
          </a:solidFill>
          <a:ln w="11430">
            <a:solidFill>
              <a:srgbClr val="B91C1C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724650" y="2152650"/>
            <a:ext cx="1943100" cy="339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0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Remote service</a:t>
            </a:r>
            <a:endParaRPr sz="1600" b="1">
              <a:solidFill>
                <a:srgbClr val="111827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724650" y="2495550"/>
            <a:ext cx="1943100" cy="68008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40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Sensitive paths fail closed without strong configured Bearer tokens.</a:t>
            </a:r>
            <a:endParaRPr sz="1400" b="0">
              <a:solidFill>
                <a:srgbClr val="47556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9486900" y="2000250"/>
            <a:ext cx="2286000" cy="1457325"/>
          </a:xfrm>
          <a:prstGeom prst="roundRect">
            <a:avLst>
              <a:gd name="adj" fmla="val 6667"/>
            </a:avLst>
          </a:prstGeom>
          <a:solidFill>
            <a:srgbClr val="FFF3D6"/>
          </a:solidFill>
          <a:ln w="11430">
            <a:solidFill>
              <a:srgbClr val="D97706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9658350" y="2152650"/>
            <a:ext cx="1943100" cy="339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0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External calls</a:t>
            </a:r>
            <a:endParaRPr sz="1600" b="1">
              <a:solidFill>
                <a:srgbClr val="111827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658350" y="2495550"/>
            <a:ext cx="1943100" cy="68008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40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DeepSeek and training URLs pass SSRF-resistant URL constraints.</a:t>
            </a:r>
            <a:endParaRPr sz="1400" b="0">
              <a:solidFill>
                <a:srgbClr val="47556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12420600" y="2000250"/>
            <a:ext cx="2000250" cy="1457325"/>
          </a:xfrm>
          <a:prstGeom prst="roundRect">
            <a:avLst>
              <a:gd name="adj" fmla="val 6667"/>
            </a:avLst>
          </a:prstGeom>
          <a:solidFill>
            <a:srgbClr val="F6F8FB"/>
          </a:solidFill>
          <a:ln w="11430">
            <a:solidFill>
              <a:srgbClr val="475569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2592050" y="2152650"/>
            <a:ext cx="1657350" cy="339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0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Audit log</a:t>
            </a:r>
            <a:endParaRPr sz="1600" b="1">
              <a:solidFill>
                <a:srgbClr val="111827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2592050" y="2495550"/>
            <a:ext cx="1657350" cy="68008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40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Auth failures are recorded without tokens or request bodies.</a:t>
            </a:r>
            <a:endParaRPr sz="1400" b="0">
              <a:solidFill>
                <a:srgbClr val="47556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3" name="右箭头 22"/>
          <p:cNvSpPr>
            <a:spLocks noGrp="1"/>
          </p:cNvSpPr>
          <p:nvPr/>
        </p:nvSpPr>
        <p:spPr>
          <a:xfrm>
            <a:off x="3067050" y="2381250"/>
            <a:ext cx="361950" cy="339725"/>
          </a:xfrm>
          <a:prstGeom prst="rightArrow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24" name="右箭头 23"/>
          <p:cNvSpPr>
            <a:spLocks noGrp="1"/>
          </p:cNvSpPr>
          <p:nvPr/>
        </p:nvSpPr>
        <p:spPr>
          <a:xfrm>
            <a:off x="6000750" y="2381250"/>
            <a:ext cx="361950" cy="339725"/>
          </a:xfrm>
          <a:prstGeom prst="rightArrow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25" name="右箭头 24"/>
          <p:cNvSpPr>
            <a:spLocks noGrp="1"/>
          </p:cNvSpPr>
          <p:nvPr/>
        </p:nvSpPr>
        <p:spPr>
          <a:xfrm>
            <a:off x="8934450" y="2381250"/>
            <a:ext cx="361950" cy="339725"/>
          </a:xfrm>
          <a:prstGeom prst="rightArrow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26" name="右箭头 25"/>
          <p:cNvSpPr>
            <a:spLocks noGrp="1"/>
          </p:cNvSpPr>
          <p:nvPr/>
        </p:nvSpPr>
        <p:spPr>
          <a:xfrm>
            <a:off x="11868150" y="2381250"/>
            <a:ext cx="361950" cy="339725"/>
          </a:xfrm>
          <a:prstGeom prst="rightArrow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27" name="圆角矩形 26"/>
          <p:cNvSpPr>
            <a:spLocks noGrp="1"/>
          </p:cNvSpPr>
          <p:nvPr/>
        </p:nvSpPr>
        <p:spPr>
          <a:xfrm>
            <a:off x="1485900" y="3857625"/>
            <a:ext cx="1714500" cy="436880"/>
          </a:xfrm>
          <a:prstGeom prst="roundRect">
            <a:avLst>
              <a:gd name="adj" fmla="val 22222"/>
            </a:avLst>
          </a:prstGeom>
          <a:solidFill>
            <a:srgbClr val="EAF2FF"/>
          </a:solidFill>
          <a:ln w="9525">
            <a:solidFill>
              <a:srgbClr val="1F6FEB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1581150" y="3924300"/>
            <a:ext cx="1524000" cy="31559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1F6FE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1400" b="1">
                <a:solidFill>
                  <a:srgbClr val="1F6FE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sessionStorage</a:t>
            </a:r>
            <a:endParaRPr sz="1400" b="1">
              <a:solidFill>
                <a:srgbClr val="1F6FEB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4048125" y="3857625"/>
            <a:ext cx="1714500" cy="436880"/>
          </a:xfrm>
          <a:prstGeom prst="roundRect">
            <a:avLst>
              <a:gd name="adj" fmla="val 22222"/>
            </a:avLst>
          </a:prstGeom>
          <a:solidFill>
            <a:srgbClr val="EAF7EE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4143375" y="3924300"/>
            <a:ext cx="1524000" cy="31559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15803D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1400" b="1">
                <a:solidFill>
                  <a:srgbClr val="15803D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CORS tightened</a:t>
            </a:r>
            <a:endParaRPr sz="1400" b="1">
              <a:solidFill>
                <a:srgbClr val="15803D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6734175" y="3857625"/>
            <a:ext cx="2095500" cy="436880"/>
          </a:xfrm>
          <a:prstGeom prst="roundRect">
            <a:avLst>
              <a:gd name="adj" fmla="val 22222"/>
            </a:avLst>
          </a:prstGeom>
          <a:solidFill>
            <a:srgbClr val="FDECEC"/>
          </a:solidFill>
          <a:ln w="9525">
            <a:solidFill>
              <a:srgbClr val="B91C1C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6829425" y="3924300"/>
            <a:ext cx="1905000" cy="31559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B91C1C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1400" b="1">
                <a:solidFill>
                  <a:srgbClr val="B91C1C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403 / 401 fail-closed</a:t>
            </a:r>
            <a:endParaRPr sz="1400" b="1">
              <a:solidFill>
                <a:srgbClr val="B91C1C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9791700" y="3857625"/>
            <a:ext cx="1619250" cy="436880"/>
          </a:xfrm>
          <a:prstGeom prst="roundRect">
            <a:avLst>
              <a:gd name="adj" fmla="val 22222"/>
            </a:avLst>
          </a:prstGeom>
          <a:solidFill>
            <a:srgbClr val="FFF3D6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9886950" y="3924300"/>
            <a:ext cx="1428750" cy="31559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D97706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1400" b="1">
                <a:solidFill>
                  <a:srgbClr val="D97706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no metadata URL</a:t>
            </a:r>
            <a:endParaRPr sz="1400" b="1">
              <a:solidFill>
                <a:srgbClr val="D97706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35" name="圆角矩形 34"/>
          <p:cNvSpPr>
            <a:spLocks noGrp="1"/>
          </p:cNvSpPr>
          <p:nvPr/>
        </p:nvSpPr>
        <p:spPr>
          <a:xfrm>
            <a:off x="12573000" y="3857625"/>
            <a:ext cx="1619250" cy="436880"/>
          </a:xfrm>
          <a:prstGeom prst="roundRect">
            <a:avLst>
              <a:gd name="adj" fmla="val 22222"/>
            </a:avLst>
          </a:prstGeom>
          <a:solidFill>
            <a:srgbClr val="F6F8FB"/>
          </a:solidFill>
          <a:ln w="9525">
            <a:solidFill>
              <a:srgbClr val="475569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12668250" y="3924300"/>
            <a:ext cx="1428750" cy="31559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475569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1400" b="1">
                <a:solidFill>
                  <a:srgbClr val="475569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no-store / nosniff</a:t>
            </a:r>
            <a:endParaRPr sz="1400" b="1">
              <a:solidFill>
                <a:srgbClr val="475569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524000" y="5162550"/>
            <a:ext cx="12139295" cy="87566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60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Important distinction: the shared client password 123123 is a demonstration gate, not production API security.</a:t>
            </a:r>
            <a:endParaRPr sz="3600" b="1">
              <a:solidFill>
                <a:srgbClr val="111827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571500" y="8020050"/>
            <a:ext cx="140970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609600" y="8134350"/>
            <a:ext cx="1104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B667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790" b="0">
                <a:solidFill>
                  <a:srgbClr val="5B667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Source: SECURITY_PRIVACY_ETHICS_REVIEW.md network security section</a:t>
            </a:r>
            <a:endParaRPr sz="790" b="0">
              <a:solidFill>
                <a:srgbClr val="5B6678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13906500" y="8134350"/>
            <a:ext cx="76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5B6678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900" b="1">
                <a:solidFill>
                  <a:srgbClr val="5B6678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10</a:t>
            </a:r>
            <a:endParaRPr sz="900" b="1">
              <a:solidFill>
                <a:srgbClr val="5B6678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5240000" cy="171450"/>
          </a:xfrm>
          <a:prstGeom prst="rect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171450"/>
            <a:ext cx="15240000" cy="19050"/>
          </a:xfrm>
          <a:prstGeom prst="rect">
            <a:avLst/>
          </a:prstGeom>
          <a:solidFill>
            <a:srgbClr val="15803D"/>
          </a:solidFill>
          <a:ln w="0">
            <a:solidFill>
              <a:srgbClr val="15803D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811000" y="323850"/>
            <a:ext cx="2857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5B6678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1600" b="1">
                <a:solidFill>
                  <a:srgbClr val="5B6678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ASSURANCE</a:t>
            </a:r>
            <a:endParaRPr sz="1600" b="1">
              <a:solidFill>
                <a:srgbClr val="5B6678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457200"/>
            <a:ext cx="9906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400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Data Pollution and Artifact Integrity</a:t>
            </a:r>
            <a:endParaRPr sz="4000" b="1">
              <a:solidFill>
                <a:srgbClr val="111827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28650" y="1028700"/>
            <a:ext cx="11239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B667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000" b="0">
                <a:solidFill>
                  <a:srgbClr val="5B667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Release data, static files, training metadata, and downloadable artifacts now pass repeatable checks.</a:t>
            </a:r>
            <a:endParaRPr sz="2000" b="0">
              <a:solidFill>
                <a:srgbClr val="5B6678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904875" y="2047875"/>
            <a:ext cx="2455545" cy="3133725"/>
          </a:xfrm>
          <a:prstGeom prst="roundRect">
            <a:avLst>
              <a:gd name="adj" fmla="val 7273"/>
            </a:avLst>
          </a:prstGeom>
          <a:solidFill>
            <a:srgbClr val="EAF7EE"/>
          </a:solidFill>
          <a:ln w="11430">
            <a:solidFill>
              <a:srgbClr val="15803D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076325" y="2200275"/>
            <a:ext cx="2038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40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Runtime data audit</a:t>
            </a:r>
            <a:endParaRPr sz="2400" b="1">
              <a:solidFill>
                <a:srgbClr val="111827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91565" y="3021330"/>
            <a:ext cx="20383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00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Provenance, direct identifiers, duplicates, orphan details, clinical ranges.</a:t>
            </a:r>
            <a:endParaRPr sz="2000" b="0">
              <a:solidFill>
                <a:srgbClr val="47556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4114800" y="2047875"/>
            <a:ext cx="2381250" cy="3134360"/>
          </a:xfrm>
          <a:prstGeom prst="roundRect">
            <a:avLst>
              <a:gd name="adj" fmla="val 7273"/>
            </a:avLst>
          </a:prstGeom>
          <a:solidFill>
            <a:srgbClr val="EAF2FF"/>
          </a:solidFill>
          <a:ln w="11430">
            <a:solidFill>
              <a:srgbClr val="1F6FEB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286250" y="2200275"/>
            <a:ext cx="2038350" cy="79756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40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Sensitive surface audit</a:t>
            </a:r>
            <a:endParaRPr sz="2400" b="1">
              <a:solidFill>
                <a:srgbClr val="111827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293870" y="3240405"/>
            <a:ext cx="2038350" cy="13106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00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Release roots scanned for high-confidence secrets and PHI-like text.</a:t>
            </a:r>
            <a:endParaRPr sz="2000" b="0">
              <a:solidFill>
                <a:srgbClr val="47556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7324725" y="2047875"/>
            <a:ext cx="2381250" cy="3134360"/>
          </a:xfrm>
          <a:prstGeom prst="roundRect">
            <a:avLst>
              <a:gd name="adj" fmla="val 7273"/>
            </a:avLst>
          </a:prstGeom>
          <a:solidFill>
            <a:srgbClr val="F1EAFE"/>
          </a:solidFill>
          <a:ln w="11430">
            <a:solidFill>
              <a:srgbClr val="6D28D9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496175" y="2200275"/>
            <a:ext cx="2038350" cy="79756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40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Training metadata audit</a:t>
            </a:r>
            <a:endParaRPr sz="2400" b="1">
              <a:solidFill>
                <a:srgbClr val="111827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496175" y="3088005"/>
            <a:ext cx="2038350" cy="13106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00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Source provenance, declared totals, target run, split-policy checks.</a:t>
            </a:r>
            <a:endParaRPr sz="2000" b="0">
              <a:solidFill>
                <a:srgbClr val="47556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10534650" y="2047875"/>
            <a:ext cx="2381250" cy="3134360"/>
          </a:xfrm>
          <a:prstGeom prst="roundRect">
            <a:avLst>
              <a:gd name="adj" fmla="val 7273"/>
            </a:avLst>
          </a:prstGeom>
          <a:solidFill>
            <a:srgbClr val="FFF3D6"/>
          </a:solidFill>
          <a:ln w="11430">
            <a:solidFill>
              <a:srgbClr val="D97706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0706100" y="2200275"/>
            <a:ext cx="2038350" cy="79756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40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Artifact verifier</a:t>
            </a:r>
            <a:endParaRPr sz="2400" b="1">
              <a:solidFill>
                <a:srgbClr val="111827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0706100" y="2997835"/>
            <a:ext cx="2038350" cy="13106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00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MANIFEST.sha256 plus optional HMAC over downloadable ZIP contents.</a:t>
            </a:r>
            <a:endParaRPr sz="2000" b="0">
              <a:solidFill>
                <a:srgbClr val="47556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0" name="右箭头 19"/>
          <p:cNvSpPr>
            <a:spLocks noGrp="1"/>
          </p:cNvSpPr>
          <p:nvPr/>
        </p:nvSpPr>
        <p:spPr>
          <a:xfrm>
            <a:off x="3409950" y="2428875"/>
            <a:ext cx="495300" cy="797560"/>
          </a:xfrm>
          <a:prstGeom prst="rightArrow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21" name="右箭头 20"/>
          <p:cNvSpPr>
            <a:spLocks noGrp="1"/>
          </p:cNvSpPr>
          <p:nvPr/>
        </p:nvSpPr>
        <p:spPr>
          <a:xfrm>
            <a:off x="6619875" y="2428875"/>
            <a:ext cx="495300" cy="797560"/>
          </a:xfrm>
          <a:prstGeom prst="rightArrow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22" name="右箭头 21"/>
          <p:cNvSpPr>
            <a:spLocks noGrp="1"/>
          </p:cNvSpPr>
          <p:nvPr/>
        </p:nvSpPr>
        <p:spPr>
          <a:xfrm>
            <a:off x="9829800" y="2428875"/>
            <a:ext cx="495300" cy="797560"/>
          </a:xfrm>
          <a:prstGeom prst="rightArrow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35" name="圆角矩形 34"/>
          <p:cNvSpPr>
            <a:spLocks noGrp="1"/>
          </p:cNvSpPr>
          <p:nvPr/>
        </p:nvSpPr>
        <p:spPr>
          <a:xfrm>
            <a:off x="2713990" y="6343650"/>
            <a:ext cx="9744710" cy="942340"/>
          </a:xfrm>
          <a:prstGeom prst="roundRect">
            <a:avLst>
              <a:gd name="adj" fmla="val 12121"/>
            </a:avLst>
          </a:prstGeom>
          <a:solidFill>
            <a:srgbClr val="FDECEC"/>
          </a:solidFill>
          <a:ln w="9525">
            <a:solidFill>
              <a:srgbClr val="B91C1C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2876550" y="6438900"/>
            <a:ext cx="9448800" cy="72136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B91C1C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2000" b="1">
                <a:solidFill>
                  <a:srgbClr val="B91C1C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This is release hygiene for a course package. It does not replace formal HIPAA expert determination or raw-source data governance.</a:t>
            </a:r>
            <a:endParaRPr sz="2000" b="1">
              <a:solidFill>
                <a:srgbClr val="B91C1C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571500" y="8020050"/>
            <a:ext cx="140970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609600" y="8134350"/>
            <a:ext cx="1104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B667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00" b="0">
                <a:solidFill>
                  <a:srgbClr val="5B667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Source: SECURITY_PRIVACY_ETHICS_REVIEW.md verification evidence</a:t>
            </a:r>
            <a:endParaRPr sz="1200" b="0">
              <a:solidFill>
                <a:srgbClr val="5B6678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13906500" y="8134350"/>
            <a:ext cx="76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5B6678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1600" b="1">
                <a:solidFill>
                  <a:srgbClr val="5B6678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11</a:t>
            </a:r>
            <a:endParaRPr sz="1600" b="1">
              <a:solidFill>
                <a:srgbClr val="5B6678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5859760" cy="1268412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5859760" cy="253365"/>
          </a:xfrm>
          <a:prstGeom prst="rect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171450"/>
            <a:ext cx="15859760" cy="112395"/>
          </a:xfrm>
          <a:prstGeom prst="rect">
            <a:avLst/>
          </a:prstGeom>
          <a:solidFill>
            <a:srgbClr val="15803D"/>
          </a:solidFill>
          <a:ln w="0">
            <a:solidFill>
              <a:srgbClr val="15803D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811000" y="323850"/>
            <a:ext cx="2973705" cy="36639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5B6678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1600" b="1">
                <a:solidFill>
                  <a:srgbClr val="5B6678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DEPLOY</a:t>
            </a:r>
            <a:endParaRPr sz="1600" b="1">
              <a:solidFill>
                <a:srgbClr val="5B6678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457200"/>
            <a:ext cx="10308590" cy="87376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400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Deployment Orchestration</a:t>
            </a:r>
            <a:endParaRPr sz="4000" b="1">
              <a:solidFill>
                <a:srgbClr val="111827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28650" y="1028700"/>
            <a:ext cx="11696700" cy="61976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B667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000" b="0">
                <a:solidFill>
                  <a:srgbClr val="5B667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Laptop-to-remote-server deployment became a tested sequence instead of a handwritten command list.</a:t>
            </a:r>
            <a:endParaRPr sz="2000" b="0">
              <a:solidFill>
                <a:srgbClr val="5B6678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685800" y="2286000"/>
            <a:ext cx="2032000" cy="1691005"/>
          </a:xfrm>
          <a:prstGeom prst="roundRect">
            <a:avLst>
              <a:gd name="adj" fmla="val 6667"/>
            </a:avLst>
          </a:prstGeom>
          <a:solidFill>
            <a:srgbClr val="FDECEC"/>
          </a:solidFill>
          <a:ln w="11430">
            <a:solidFill>
              <a:srgbClr val="B91C1C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57250" y="2438400"/>
            <a:ext cx="1675130" cy="39433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00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Pre-release gate</a:t>
            </a:r>
            <a:endParaRPr sz="2000" b="1">
              <a:solidFill>
                <a:srgbClr val="111827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57250" y="3016885"/>
            <a:ext cx="1675130" cy="78867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0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security checks before network actions</a:t>
            </a:r>
            <a:endParaRPr sz="1600" b="0">
              <a:solidFill>
                <a:srgbClr val="47556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3" name="右箭头 12"/>
          <p:cNvSpPr>
            <a:spLocks noGrp="1"/>
          </p:cNvSpPr>
          <p:nvPr/>
        </p:nvSpPr>
        <p:spPr>
          <a:xfrm>
            <a:off x="2686050" y="2705100"/>
            <a:ext cx="277495" cy="337820"/>
          </a:xfrm>
          <a:prstGeom prst="rightArrow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14" name="圆角矩形 13"/>
          <p:cNvSpPr>
            <a:spLocks noGrp="1"/>
          </p:cNvSpPr>
          <p:nvPr/>
        </p:nvSpPr>
        <p:spPr>
          <a:xfrm>
            <a:off x="3019425" y="2286000"/>
            <a:ext cx="2032000" cy="1691005"/>
          </a:xfrm>
          <a:prstGeom prst="roundRect">
            <a:avLst>
              <a:gd name="adj" fmla="val 6667"/>
            </a:avLst>
          </a:prstGeom>
          <a:solidFill>
            <a:srgbClr val="F6F8FB"/>
          </a:solidFill>
          <a:ln w="11430">
            <a:solidFill>
              <a:srgbClr val="475569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3190875" y="2438400"/>
            <a:ext cx="1675130" cy="39433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00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SSH preflight</a:t>
            </a:r>
            <a:endParaRPr sz="2000" b="1">
              <a:solidFill>
                <a:srgbClr val="111827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190875" y="2781300"/>
            <a:ext cx="1675130" cy="78867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0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BatchMode and timeout</a:t>
            </a:r>
            <a:endParaRPr sz="1600" b="0">
              <a:solidFill>
                <a:srgbClr val="47556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9" name="右箭头 18"/>
          <p:cNvSpPr>
            <a:spLocks noGrp="1"/>
          </p:cNvSpPr>
          <p:nvPr/>
        </p:nvSpPr>
        <p:spPr>
          <a:xfrm>
            <a:off x="5019675" y="2705100"/>
            <a:ext cx="277495" cy="337820"/>
          </a:xfrm>
          <a:prstGeom prst="rightArrow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20" name="圆角矩形 19"/>
          <p:cNvSpPr>
            <a:spLocks noGrp="1"/>
          </p:cNvSpPr>
          <p:nvPr/>
        </p:nvSpPr>
        <p:spPr>
          <a:xfrm>
            <a:off x="5353050" y="2286000"/>
            <a:ext cx="2032000" cy="1691005"/>
          </a:xfrm>
          <a:prstGeom prst="roundRect">
            <a:avLst>
              <a:gd name="adj" fmla="val 6667"/>
            </a:avLst>
          </a:prstGeom>
          <a:solidFill>
            <a:srgbClr val="EAF2FF"/>
          </a:solidFill>
          <a:ln w="11430">
            <a:solidFill>
              <a:srgbClr val="1F6FEB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5524500" y="2438400"/>
            <a:ext cx="1675130" cy="39433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00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Sync package</a:t>
            </a:r>
            <a:endParaRPr sz="2000" b="1">
              <a:solidFill>
                <a:srgbClr val="111827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524500" y="2781300"/>
            <a:ext cx="1675130" cy="78867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0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rsync model service without runtime/log cache</a:t>
            </a:r>
            <a:endParaRPr sz="1600" b="0">
              <a:solidFill>
                <a:srgbClr val="47556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5" name="右箭头 24"/>
          <p:cNvSpPr>
            <a:spLocks noGrp="1"/>
          </p:cNvSpPr>
          <p:nvPr/>
        </p:nvSpPr>
        <p:spPr>
          <a:xfrm>
            <a:off x="7353300" y="2705100"/>
            <a:ext cx="277495" cy="337820"/>
          </a:xfrm>
          <a:prstGeom prst="rightArrow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26" name="圆角矩形 25"/>
          <p:cNvSpPr>
            <a:spLocks noGrp="1"/>
          </p:cNvSpPr>
          <p:nvPr/>
        </p:nvSpPr>
        <p:spPr>
          <a:xfrm>
            <a:off x="7686675" y="2286000"/>
            <a:ext cx="2032000" cy="1691005"/>
          </a:xfrm>
          <a:prstGeom prst="roundRect">
            <a:avLst>
              <a:gd name="adj" fmla="val 6667"/>
            </a:avLst>
          </a:prstGeom>
          <a:solidFill>
            <a:srgbClr val="F1EAFE"/>
          </a:solidFill>
          <a:ln w="11430">
            <a:solidFill>
              <a:srgbClr val="6D28D9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7858125" y="2438400"/>
            <a:ext cx="1675130" cy="39433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00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Remote restart</a:t>
            </a:r>
            <a:endParaRPr sz="2000" b="1">
              <a:solidFill>
                <a:srgbClr val="111827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858125" y="2781300"/>
            <a:ext cx="1675130" cy="78867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0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one-click doctor/start/smoke</a:t>
            </a:r>
            <a:endParaRPr sz="1600" b="0">
              <a:solidFill>
                <a:srgbClr val="47556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1" name="右箭头 30"/>
          <p:cNvSpPr>
            <a:spLocks noGrp="1"/>
          </p:cNvSpPr>
          <p:nvPr/>
        </p:nvSpPr>
        <p:spPr>
          <a:xfrm>
            <a:off x="9686925" y="2705100"/>
            <a:ext cx="277495" cy="337820"/>
          </a:xfrm>
          <a:prstGeom prst="rightArrow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32" name="圆角矩形 31"/>
          <p:cNvSpPr>
            <a:spLocks noGrp="1"/>
          </p:cNvSpPr>
          <p:nvPr/>
        </p:nvSpPr>
        <p:spPr>
          <a:xfrm>
            <a:off x="10020300" y="2286000"/>
            <a:ext cx="2032000" cy="1691005"/>
          </a:xfrm>
          <a:prstGeom prst="roundRect">
            <a:avLst>
              <a:gd name="adj" fmla="val 6667"/>
            </a:avLst>
          </a:prstGeom>
          <a:solidFill>
            <a:srgbClr val="EAF7EE"/>
          </a:solidFill>
          <a:ln w="11430">
            <a:solidFill>
              <a:srgbClr val="15803D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10191750" y="2438400"/>
            <a:ext cx="1675130" cy="39433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00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Mac smoke</a:t>
            </a:r>
            <a:endParaRPr sz="2000" b="1">
              <a:solidFill>
                <a:srgbClr val="111827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0191750" y="2781300"/>
            <a:ext cx="1675130" cy="78867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0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API forwarding to remote server</a:t>
            </a:r>
            <a:endParaRPr sz="1600" b="0">
              <a:solidFill>
                <a:srgbClr val="47556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7" name="右箭头 36"/>
          <p:cNvSpPr>
            <a:spLocks noGrp="1"/>
          </p:cNvSpPr>
          <p:nvPr/>
        </p:nvSpPr>
        <p:spPr>
          <a:xfrm>
            <a:off x="12020550" y="2705100"/>
            <a:ext cx="277495" cy="337820"/>
          </a:xfrm>
          <a:prstGeom prst="rightArrow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38" name="圆角矩形 37"/>
          <p:cNvSpPr>
            <a:spLocks noGrp="1"/>
          </p:cNvSpPr>
          <p:nvPr/>
        </p:nvSpPr>
        <p:spPr>
          <a:xfrm>
            <a:off x="12353925" y="2286000"/>
            <a:ext cx="2032000" cy="1691005"/>
          </a:xfrm>
          <a:prstGeom prst="roundRect">
            <a:avLst>
              <a:gd name="adj" fmla="val 6667"/>
            </a:avLst>
          </a:prstGeom>
          <a:solidFill>
            <a:srgbClr val="FFF3D6"/>
          </a:solidFill>
          <a:ln w="11430">
            <a:solidFill>
              <a:srgbClr val="D97706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12525375" y="2438400"/>
            <a:ext cx="1675130" cy="39433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00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Pull artifact</a:t>
            </a:r>
            <a:endParaRPr sz="2000" b="1">
              <a:solidFill>
                <a:srgbClr val="111827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12525375" y="2781300"/>
            <a:ext cx="1675130" cy="78867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0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download and verify latest bundle</a:t>
            </a:r>
            <a:endParaRPr sz="1600" b="0">
              <a:solidFill>
                <a:srgbClr val="47556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3" name="圆角矩形 42"/>
          <p:cNvSpPr>
            <a:spLocks noGrp="1"/>
          </p:cNvSpPr>
          <p:nvPr/>
        </p:nvSpPr>
        <p:spPr>
          <a:xfrm>
            <a:off x="1671320" y="4210050"/>
            <a:ext cx="3401060" cy="507365"/>
          </a:xfrm>
          <a:prstGeom prst="roundRect">
            <a:avLst>
              <a:gd name="adj" fmla="val 22222"/>
            </a:avLst>
          </a:prstGeom>
          <a:solidFill>
            <a:srgbClr val="FDECEC"/>
          </a:solidFill>
          <a:ln w="9525">
            <a:solidFill>
              <a:srgbClr val="B91C1C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1625600" y="4305300"/>
            <a:ext cx="3482340" cy="33718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B91C1C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1800" b="1">
                <a:solidFill>
                  <a:srgbClr val="B91C1C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break-glass requires reason</a:t>
            </a:r>
            <a:endParaRPr sz="1800" b="1">
              <a:solidFill>
                <a:srgbClr val="B91C1C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45" name="圆角矩形 44"/>
          <p:cNvSpPr>
            <a:spLocks noGrp="1"/>
          </p:cNvSpPr>
          <p:nvPr/>
        </p:nvSpPr>
        <p:spPr>
          <a:xfrm>
            <a:off x="5429250" y="4210050"/>
            <a:ext cx="3523615" cy="507365"/>
          </a:xfrm>
          <a:prstGeom prst="roundRect">
            <a:avLst>
              <a:gd name="adj" fmla="val 22222"/>
            </a:avLst>
          </a:prstGeom>
          <a:solidFill>
            <a:srgbClr val="FFF3D6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5429250" y="4276725"/>
            <a:ext cx="3481705" cy="33718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D97706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1800" b="1">
                <a:solidFill>
                  <a:srgbClr val="D97706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dry-run redacts Bearer token</a:t>
            </a:r>
            <a:endParaRPr sz="1800" b="1">
              <a:solidFill>
                <a:srgbClr val="D97706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47" name="圆角矩形 46"/>
          <p:cNvSpPr>
            <a:spLocks noGrp="1"/>
          </p:cNvSpPr>
          <p:nvPr/>
        </p:nvSpPr>
        <p:spPr>
          <a:xfrm>
            <a:off x="9267825" y="4194810"/>
            <a:ext cx="3829685" cy="507365"/>
          </a:xfrm>
          <a:prstGeom prst="roundRect">
            <a:avLst>
              <a:gd name="adj" fmla="val 22222"/>
            </a:avLst>
          </a:prstGeom>
          <a:solidFill>
            <a:srgbClr val="EAF7EE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9192260" y="4261485"/>
            <a:ext cx="3905250" cy="31242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15803D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1800" b="1">
                <a:solidFill>
                  <a:srgbClr val="15803D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artifact verifier supports HMAC</a:t>
            </a:r>
            <a:endParaRPr sz="1800" b="1">
              <a:solidFill>
                <a:srgbClr val="15803D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1866265" y="5464175"/>
            <a:ext cx="9052560" cy="97853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320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Ready state: local app/API/model service and orchestration scripts are reproducible and tested.</a:t>
            </a:r>
            <a:endParaRPr sz="3200" b="1">
              <a:solidFill>
                <a:srgbClr val="111827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571500" y="8020050"/>
            <a:ext cx="14669770" cy="11239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609600" y="8134350"/>
            <a:ext cx="11497945" cy="33782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B667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00" b="0">
                <a:solidFill>
                  <a:srgbClr val="5B667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Source: DEPLOYMENT_TEST_REPORT.md and recent project report deployment section</a:t>
            </a:r>
            <a:endParaRPr sz="1200" b="0">
              <a:solidFill>
                <a:srgbClr val="5B6678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13906500" y="8134350"/>
            <a:ext cx="793115" cy="33782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5B6678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1600" b="1">
                <a:solidFill>
                  <a:srgbClr val="5B6678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12</a:t>
            </a:r>
            <a:endParaRPr sz="1600" b="1">
              <a:solidFill>
                <a:srgbClr val="5B6678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5240000" cy="171450"/>
          </a:xfrm>
          <a:prstGeom prst="rect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171450"/>
            <a:ext cx="15240000" cy="19050"/>
          </a:xfrm>
          <a:prstGeom prst="rect">
            <a:avLst/>
          </a:prstGeom>
          <a:solidFill>
            <a:srgbClr val="15803D"/>
          </a:solidFill>
          <a:ln w="0">
            <a:solidFill>
              <a:srgbClr val="15803D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811000" y="323850"/>
            <a:ext cx="2857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5B6678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975" b="1">
                <a:solidFill>
                  <a:srgbClr val="5B6678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NEXT</a:t>
            </a:r>
            <a:endParaRPr sz="975" b="1">
              <a:solidFill>
                <a:srgbClr val="5B6678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457200"/>
            <a:ext cx="9906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55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Limitations and Next Work</a:t>
            </a:r>
            <a:endParaRPr sz="2550" b="1">
              <a:solidFill>
                <a:srgbClr val="111827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28650" y="1028700"/>
            <a:ext cx="11239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B667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000" b="0">
                <a:solidFill>
                  <a:srgbClr val="5B667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 final presentation should close with the same honesty as the system design.</a:t>
            </a:r>
            <a:endParaRPr sz="2000" b="0">
              <a:solidFill>
                <a:srgbClr val="5B6678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1857375"/>
            <a:ext cx="3714750" cy="1695450"/>
          </a:xfrm>
          <a:prstGeom prst="roundRect">
            <a:avLst>
              <a:gd name="adj" fmla="val 4494"/>
            </a:avLst>
          </a:prstGeom>
          <a:solidFill>
            <a:srgbClr val="FDECEC"/>
          </a:solidFill>
          <a:ln w="11430">
            <a:solidFill>
              <a:srgbClr val="B91C1C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047750" y="2009775"/>
            <a:ext cx="3371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00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Validation gap</a:t>
            </a:r>
            <a:endParaRPr sz="2000" b="1">
              <a:solidFill>
                <a:srgbClr val="111827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47750" y="2352675"/>
            <a:ext cx="3371850" cy="1085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0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Build a true held-out external validation split. The current S7 monitoring split is useful for course delivery but overlaps training patients.</a:t>
            </a:r>
            <a:endParaRPr sz="1600" b="0">
              <a:solidFill>
                <a:srgbClr val="47556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5753100" y="1857375"/>
            <a:ext cx="3714750" cy="1695450"/>
          </a:xfrm>
          <a:prstGeom prst="roundRect">
            <a:avLst>
              <a:gd name="adj" fmla="val 4494"/>
            </a:avLst>
          </a:prstGeom>
          <a:solidFill>
            <a:srgbClr val="FFF3D6"/>
          </a:solidFill>
          <a:ln w="11430">
            <a:solidFill>
              <a:srgbClr val="D97706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5924550" y="2009775"/>
            <a:ext cx="3371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00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Deployment gap</a:t>
            </a:r>
            <a:endParaRPr sz="2000" b="1">
              <a:solidFill>
                <a:srgbClr val="111827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924550" y="2352675"/>
            <a:ext cx="3371850" cy="1085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0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Bring a real remote server online, run the full laptop-to-remote-server command path, save smoke logs, artifact verifier output, and cross-machine evidence.</a:t>
            </a:r>
            <a:endParaRPr sz="1600" b="0">
              <a:solidFill>
                <a:srgbClr val="47556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10629900" y="1857375"/>
            <a:ext cx="3714750" cy="1695450"/>
          </a:xfrm>
          <a:prstGeom prst="roundRect">
            <a:avLst>
              <a:gd name="adj" fmla="val 4494"/>
            </a:avLst>
          </a:prstGeom>
          <a:solidFill>
            <a:srgbClr val="F1EAFE"/>
          </a:solidFill>
          <a:ln w="11430">
            <a:solidFill>
              <a:srgbClr val="6D28D9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0801350" y="2009775"/>
            <a:ext cx="3371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00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Governance gap</a:t>
            </a:r>
            <a:endParaRPr sz="2000" b="1">
              <a:solidFill>
                <a:srgbClr val="111827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0801350" y="2352675"/>
            <a:ext cx="3371850" cy="1085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00" b="0">
                <a:solidFill>
                  <a:srgbClr val="47556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Run deeper security/threat-model coverage, review runtime display-summary warnings, and add managed key rotation before regulated use.</a:t>
            </a:r>
            <a:endParaRPr sz="1600" b="0">
              <a:solidFill>
                <a:srgbClr val="47556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638300" y="4476750"/>
            <a:ext cx="1190625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440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Final takeaway</a:t>
            </a:r>
            <a:endParaRPr sz="4400" b="1">
              <a:solidFill>
                <a:srgbClr val="111827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038350" y="5191125"/>
            <a:ext cx="11144250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800" b="1">
                <a:solidFill>
                  <a:srgbClr val="11182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SepsisCare demonstrates a complete course-grade path from ICU time-series modeling to multi-platform software delivery, with safety boundaries and release evidence made visible instead of hidden.</a:t>
            </a:r>
            <a:endParaRPr sz="2800" b="1">
              <a:solidFill>
                <a:srgbClr val="111827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4143375" y="6762750"/>
            <a:ext cx="6953250" cy="552450"/>
          </a:xfrm>
          <a:prstGeom prst="roundRect">
            <a:avLst>
              <a:gd name="adj" fmla="val 13793"/>
            </a:avLst>
          </a:prstGeom>
          <a:solidFill>
            <a:srgbClr val="EAF7EE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4276725" y="6858000"/>
            <a:ext cx="6686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15803D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1600" b="1">
                <a:solidFill>
                  <a:srgbClr val="15803D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Demo-ready, evidence-backed, and still honest about what is not clinically proven.</a:t>
            </a:r>
            <a:endParaRPr sz="1600" b="1">
              <a:solidFill>
                <a:srgbClr val="15803D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71500" y="8020050"/>
            <a:ext cx="140970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609600" y="8134350"/>
            <a:ext cx="1104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B667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790" b="0">
                <a:solidFill>
                  <a:srgbClr val="5B667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Source: project report conclusion and residual-risk sections</a:t>
            </a:r>
            <a:endParaRPr sz="790" b="0">
              <a:solidFill>
                <a:srgbClr val="5B6678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3906500" y="8134350"/>
            <a:ext cx="76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5B6678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900" b="1">
                <a:solidFill>
                  <a:srgbClr val="5B6678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14</a:t>
            </a:r>
            <a:endParaRPr sz="900" b="1">
              <a:solidFill>
                <a:srgbClr val="5B6678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8785</Words>
  <Application>WPS 演示</Application>
  <PresentationFormat>Converted Presentation</PresentationFormat>
  <Paragraphs>437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32" baseType="lpstr">
      <vt:lpstr>Arial</vt:lpstr>
      <vt:lpstr>宋体</vt:lpstr>
      <vt:lpstr>Wingdings</vt:lpstr>
      <vt:lpstr>Comic Sans MS</vt:lpstr>
      <vt:lpstr>Times New Roman</vt:lpstr>
      <vt:lpstr>汉仪书宋二KW</vt:lpstr>
      <vt:lpstr>微软雅黑</vt:lpstr>
      <vt:lpstr>汉仪旗黑</vt:lpstr>
      <vt:lpstr>宋体</vt:lpstr>
      <vt:lpstr>Arial Unicode MS</vt:lpstr>
      <vt:lpstr>Calibri</vt:lpstr>
      <vt:lpstr>Helvetica Neue</vt:lpstr>
      <vt:lpstr>Comic Sans MS</vt:lpstr>
      <vt:lpstr>Times New Roman</vt:lpstr>
      <vt:lpstr>Impact</vt:lpstr>
      <vt:lpstr>微软雅黑</vt:lpstr>
      <vt:lpstr>Segoe UI</vt:lpstr>
      <vt:lpstr>苹方-简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exusiaihy</cp:lastModifiedBy>
  <cp:revision>1</cp:revision>
  <dcterms:created xsi:type="dcterms:W3CDTF">2026-06-04T04:41:32Z</dcterms:created>
  <dcterms:modified xsi:type="dcterms:W3CDTF">2026-06-04T04:41:32Z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>FF0CBF9DDF8DCE4FFC01216AC46D6F81_43</vt:lpwstr>
  </property>
</Properties>
</file>
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1cf1e0e614cb6" /><Relationship Type="http://schemas.openxmlformats.org/officeDocument/2006/relationships/extended-properties" Target="/docProps/app.xml" Id="R55c4ff89f03d44c6" /><Relationship Type="http://schemas.openxmlformats.org/officeDocument/2006/relationships/officeDocument" Target="/ppt/presentation.xml" Id="Red8e230543cf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cc91bdb2d438f"/>
  </p:sldMasterIdLst>
  <p:notesMasterIdLst>
    <p:notesMasterId xmlns:r="http://schemas.openxmlformats.org/officeDocument/2006/relationships" r:id="R3e331f1cb01d4b04"/>
  </p:notesMasterIdLst>
  <p:sldIdLst>
    <p:sldId xmlns:r="http://schemas.openxmlformats.org/officeDocument/2006/relationships" id="256" r:id="R1ce7e0df77b24c04"/>
    <p:sldId xmlns:r="http://schemas.openxmlformats.org/officeDocument/2006/relationships" id="257" r:id="Rc5dfe98531a04057"/>
    <p:sldId xmlns:r="http://schemas.openxmlformats.org/officeDocument/2006/relationships" id="258" r:id="Rc42671c51bb0467e"/>
    <p:sldId xmlns:r="http://schemas.openxmlformats.org/officeDocument/2006/relationships" id="259" r:id="R1b48428a3f3444e8"/>
    <p:sldId xmlns:r="http://schemas.openxmlformats.org/officeDocument/2006/relationships" id="260" r:id="R90896a989b5844aa"/>
    <p:sldId xmlns:r="http://schemas.openxmlformats.org/officeDocument/2006/relationships" id="261" r:id="R3b9f4e698baf4c81"/>
    <p:sldId xmlns:r="http://schemas.openxmlformats.org/officeDocument/2006/relationships" id="262" r:id="R5db51c3cac1346ae"/>
    <p:sldId xmlns:r="http://schemas.openxmlformats.org/officeDocument/2006/relationships" id="263" r:id="R3a4c2ba18de7481b"/>
    <p:sldId xmlns:r="http://schemas.openxmlformats.org/officeDocument/2006/relationships" id="264" r:id="Rcc881bd166dd4c35"/>
    <p:sldId xmlns:r="http://schemas.openxmlformats.org/officeDocument/2006/relationships" id="265" r:id="R71b6dedad2094547"/>
    <p:sldId xmlns:r="http://schemas.openxmlformats.org/officeDocument/2006/relationships" id="266" r:id="Rf6c41a949f3d4407"/>
    <p:sldId xmlns:r="http://schemas.openxmlformats.org/officeDocument/2006/relationships" id="267" r:id="R34b02e109e3b470f"/>
    <p:sldId xmlns:r="http://schemas.openxmlformats.org/officeDocument/2006/relationships" id="268" r:id="R6d4805866710402e"/>
    <p:sldId xmlns:r="http://schemas.openxmlformats.org/officeDocument/2006/relationships" id="269" r:id="R47c9c8b06a4d412e"/>
    <p:sldId xmlns:r="http://schemas.openxmlformats.org/officeDocument/2006/relationships" id="270" r:id="R701333f96aec4b0d"/>
    <p:sldId xmlns:r="http://schemas.openxmlformats.org/officeDocument/2006/relationships" id="271" r:id="Rb7fd03bf713e4aa3"/>
    <p:sldId xmlns:r="http://schemas.openxmlformats.org/officeDocument/2006/relationships" id="272" r:id="R97790f7b79ea4210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8fe6985baf427a" /><Relationship Type="http://schemas.openxmlformats.org/officeDocument/2006/relationships/slideMaster" Target="/ppt/slideMasters/slideMaster1.xml" Id="Rb72cc91bdb2d438f" /><Relationship Type="http://schemas.openxmlformats.org/officeDocument/2006/relationships/notesMaster" Target="/ppt/notesMasters/notesMaster1.xml" Id="R3e331f1cb01d4b04" /><Relationship Type="http://schemas.openxmlformats.org/officeDocument/2006/relationships/presProps" Target="/ppt/presProps.xml" Id="Rf023bf55d73e4166" /><Relationship Type="http://schemas.openxmlformats.org/officeDocument/2006/relationships/viewProps" Target="/ppt/viewProps.xml" Id="Rb3e794dc1d0c43db" /><Relationship Type="http://schemas.openxmlformats.org/officeDocument/2006/relationships/tableStyles" Target="/ppt/tableStyles.xml" Id="R1b7f521397594984" /><Relationship Type="http://schemas.openxmlformats.org/officeDocument/2006/relationships/slide" Target="/ppt/slides/slide1.xml" Id="R1ce7e0df77b24c04" /><Relationship Type="http://schemas.openxmlformats.org/officeDocument/2006/relationships/slide" Target="/ppt/slides/slide2.xml" Id="Rc5dfe98531a04057" /><Relationship Type="http://schemas.openxmlformats.org/officeDocument/2006/relationships/slide" Target="/ppt/slides/slide3.xml" Id="Rc42671c51bb0467e" /><Relationship Type="http://schemas.openxmlformats.org/officeDocument/2006/relationships/slide" Target="/ppt/slides/slide4.xml" Id="R1b48428a3f3444e8" /><Relationship Type="http://schemas.openxmlformats.org/officeDocument/2006/relationships/slide" Target="/ppt/slides/slide5.xml" Id="R90896a989b5844aa" /><Relationship Type="http://schemas.openxmlformats.org/officeDocument/2006/relationships/slide" Target="/ppt/slides/slide6.xml" Id="R3b9f4e698baf4c81" /><Relationship Type="http://schemas.openxmlformats.org/officeDocument/2006/relationships/slide" Target="/ppt/slides/slide7.xml" Id="R5db51c3cac1346ae" /><Relationship Type="http://schemas.openxmlformats.org/officeDocument/2006/relationships/slide" Target="/ppt/slides/slide8.xml" Id="R3a4c2ba18de7481b" /><Relationship Type="http://schemas.openxmlformats.org/officeDocument/2006/relationships/slide" Target="/ppt/slides/slide9.xml" Id="Rcc881bd166dd4c35" /><Relationship Type="http://schemas.openxmlformats.org/officeDocument/2006/relationships/slide" Target="/ppt/slides/slide10.xml" Id="R71b6dedad2094547" /><Relationship Type="http://schemas.openxmlformats.org/officeDocument/2006/relationships/slide" Target="/ppt/slides/slide11.xml" Id="Rf6c41a949f3d4407" /><Relationship Type="http://schemas.openxmlformats.org/officeDocument/2006/relationships/slide" Target="/ppt/slides/slide12.xml" Id="R34b02e109e3b470f" /><Relationship Type="http://schemas.openxmlformats.org/officeDocument/2006/relationships/slide" Target="/ppt/slides/slide13.xml" Id="R6d4805866710402e" /><Relationship Type="http://schemas.openxmlformats.org/officeDocument/2006/relationships/slide" Target="/ppt/slides/slide14.xml" Id="R47c9c8b06a4d412e" /><Relationship Type="http://schemas.openxmlformats.org/officeDocument/2006/relationships/slide" Target="/ppt/slides/slide15.xml" Id="R701333f96aec4b0d" /><Relationship Type="http://schemas.openxmlformats.org/officeDocument/2006/relationships/slide" Target="/ppt/slides/slide16.xml" Id="Rb7fd03bf713e4aa3" /><Relationship Type="http://schemas.openxmlformats.org/officeDocument/2006/relationships/slide" Target="/ppt/slides/slide17.xml" Id="R97790f7b79ea42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ceac3651e48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66925356ec41c9" /><Relationship Type="http://schemas.openxmlformats.org/officeDocument/2006/relationships/notesMaster" Target="/ppt/notesMasters/notesMaster1.xml" Id="Ra446229f70e7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30b85f51774006" /><Relationship Type="http://schemas.openxmlformats.org/officeDocument/2006/relationships/notesMaster" Target="/ppt/notesMasters/notesMaster1.xml" Id="Rec21ccac928443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590900c394d3a" /><Relationship Type="http://schemas.openxmlformats.org/officeDocument/2006/relationships/notesMaster" Target="/ppt/notesMasters/notesMaster1.xml" Id="R1048028ffc094d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3022cca30466d" /><Relationship Type="http://schemas.openxmlformats.org/officeDocument/2006/relationships/notesMaster" Target="/ppt/notesMasters/notesMaster1.xml" Id="R134c6e3985fc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88554ed94f4adc" /><Relationship Type="http://schemas.openxmlformats.org/officeDocument/2006/relationships/notesMaster" Target="/ppt/notesMasters/notesMaster1.xml" Id="Rc12e405d7d6e4b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7453bf39c34299" /><Relationship Type="http://schemas.openxmlformats.org/officeDocument/2006/relationships/notesMaster" Target="/ppt/notesMasters/notesMaster1.xml" Id="R143dc6c21c2d4f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9bed537f540fa" /><Relationship Type="http://schemas.openxmlformats.org/officeDocument/2006/relationships/notesMaster" Target="/ppt/notesMasters/notesMaster1.xml" Id="Rfa3eb025b67742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1524751ecc4e5c" /><Relationship Type="http://schemas.openxmlformats.org/officeDocument/2006/relationships/notesMaster" Target="/ppt/notesMasters/notesMaster1.xml" Id="Rcc0514d314cd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8e2bb750b2497f" /><Relationship Type="http://schemas.openxmlformats.org/officeDocument/2006/relationships/notesMaster" Target="/ppt/notesMasters/notesMaster1.xml" Id="R16e0750db84243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0e33c547ed4770" /><Relationship Type="http://schemas.openxmlformats.org/officeDocument/2006/relationships/notesMaster" Target="/ppt/notesMasters/notesMaster1.xml" Id="R86758f98643541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51fc15f2cb41f0" /><Relationship Type="http://schemas.openxmlformats.org/officeDocument/2006/relationships/notesMaster" Target="/ppt/notesMasters/notesMaster1.xml" Id="Rf58eb88d4d8949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d51cc727ac4698" /><Relationship Type="http://schemas.openxmlformats.org/officeDocument/2006/relationships/notesMaster" Target="/ppt/notesMasters/notesMaster1.xml" Id="R3bea3db7c5934e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b94d80f380452a" /><Relationship Type="http://schemas.openxmlformats.org/officeDocument/2006/relationships/notesMaster" Target="/ppt/notesMasters/notesMaster1.xml" Id="Rcc27422acc6946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c5f3b5487a48af" /><Relationship Type="http://schemas.openxmlformats.org/officeDocument/2006/relationships/notesMaster" Target="/ppt/notesMasters/notesMaster1.xml" Id="R836bb92ba2e441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2693378f684945" /><Relationship Type="http://schemas.openxmlformats.org/officeDocument/2006/relationships/notesMaster" Target="/ppt/notesMasters/notesMaster1.xml" Id="Ra8cfea0270784f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3ffb75bb304d77" /><Relationship Type="http://schemas.openxmlformats.org/officeDocument/2006/relationships/notesMaster" Target="/ppt/notesMasters/notesMaster1.xml" Id="Rbf6a26d9285e46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b6e4f0aa8042c3" /><Relationship Type="http://schemas.openxmlformats.org/officeDocument/2006/relationships/notesMaster" Target="/ppt/notesMasters/notesMaster1.xml" Id="R37f9e5f1d6834e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a4dcf25ce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128ca3341148b8" /><Relationship Type="http://schemas.openxmlformats.org/officeDocument/2006/relationships/slideLayout" Target="/ppt/slideLayouts/slideLayout1.xml" Id="R7a1f972a1539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f972a1539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22caeb3664916" /><Relationship Type="http://schemas.openxmlformats.org/officeDocument/2006/relationships/image" Target="/ppt/media/image.png" Id="Rb590891ec9b04cec" /><Relationship Type="http://schemas.openxmlformats.org/officeDocument/2006/relationships/notesSlide" Target="/ppt/notesSlides/notesSlide1.xml" Id="R18601fd765a6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3076e95814e56" /><Relationship Type="http://schemas.openxmlformats.org/officeDocument/2006/relationships/notesSlide" Target="/ppt/notesSlides/notesSlide2.xml" Id="R84cbe1f6454d45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3f7ef76f84d38" /><Relationship Type="http://schemas.openxmlformats.org/officeDocument/2006/relationships/notesSlide" Target="/ppt/notesSlides/notesSlide3.xml" Id="R4a0a236b98c649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4ee6ac28c49d5" /><Relationship Type="http://schemas.openxmlformats.org/officeDocument/2006/relationships/notesSlide" Target="/ppt/notesSlides/notesSlide4.xml" Id="Re8683962a7c2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188321d584f7c" /><Relationship Type="http://schemas.openxmlformats.org/officeDocument/2006/relationships/notesSlide" Target="/ppt/notesSlides/notesSlide5.xml" Id="Rdb26263b7691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e08c9e3fa4b26" /><Relationship Type="http://schemas.openxmlformats.org/officeDocument/2006/relationships/notesSlide" Target="/ppt/notesSlides/notesSlide6.xml" Id="Reafb92ecfa204f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44606c0614f37" /><Relationship Type="http://schemas.openxmlformats.org/officeDocument/2006/relationships/notesSlide" Target="/ppt/notesSlides/notesSlide7.xml" Id="R32c0075cbd0f4f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938e7670047c5" /><Relationship Type="http://schemas.openxmlformats.org/officeDocument/2006/relationships/image" Target="/ppt/media/image2.png" Id="R3b9d1926cc894ceb" /><Relationship Type="http://schemas.openxmlformats.org/officeDocument/2006/relationships/notesSlide" Target="/ppt/notesSlides/notesSlide8.xml" Id="R65bb0cd4f10740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504840116404c" /><Relationship Type="http://schemas.openxmlformats.org/officeDocument/2006/relationships/image" Target="/ppt/media/image3.png" Id="R7d380a1fcf5a4f81" /><Relationship Type="http://schemas.openxmlformats.org/officeDocument/2006/relationships/notesSlide" Target="/ppt/notesSlides/notesSlide9.xml" Id="Rc91137eb354a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508d6c594873" /><Relationship Type="http://schemas.openxmlformats.org/officeDocument/2006/relationships/notesSlide" Target="/ppt/notesSlides/notesSlide10.xml" Id="Rd439842b844142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b648e94e74dc7" /><Relationship Type="http://schemas.openxmlformats.org/officeDocument/2006/relationships/image" Target="/ppt/media/image4.png" Id="Rf83a2a2505ff4136" /><Relationship Type="http://schemas.openxmlformats.org/officeDocument/2006/relationships/image" Target="/ppt/media/image5.png" Id="Rd696f182108d44e7" /><Relationship Type="http://schemas.openxmlformats.org/officeDocument/2006/relationships/image" Target="/ppt/media/image6.png" Id="R0412c9c8da074b51" /><Relationship Type="http://schemas.openxmlformats.org/officeDocument/2006/relationships/notesSlide" Target="/ppt/notesSlides/notesSlide11.xml" Id="Rb666d35bb5f149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a086f85ac4889" /><Relationship Type="http://schemas.openxmlformats.org/officeDocument/2006/relationships/image" Target="/ppt/media/image7.png" Id="R3a41f351967b4f6d" /><Relationship Type="http://schemas.openxmlformats.org/officeDocument/2006/relationships/image" Target="/ppt/media/image8.png" Id="R175161a3b4684c64" /><Relationship Type="http://schemas.openxmlformats.org/officeDocument/2006/relationships/notesSlide" Target="/ppt/notesSlides/notesSlide12.xml" Id="R9e7e86eb40314a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3fd734d94d85" /><Relationship Type="http://schemas.openxmlformats.org/officeDocument/2006/relationships/notesSlide" Target="/ppt/notesSlides/notesSlide13.xml" Id="R106f414d760848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e77b7e6e04b83" /><Relationship Type="http://schemas.openxmlformats.org/officeDocument/2006/relationships/notesSlide" Target="/ppt/notesSlides/notesSlide14.xml" Id="R5bcf7e93f12144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0e97d664445f3" /><Relationship Type="http://schemas.openxmlformats.org/officeDocument/2006/relationships/notesSlide" Target="/ppt/notesSlides/notesSlide15.xml" Id="Rc40a70354f5340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baef4cfd84183" /><Relationship Type="http://schemas.openxmlformats.org/officeDocument/2006/relationships/notesSlide" Target="/ppt/notesSlides/notesSlide16.xml" Id="R3855b9d66ff141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22cc729334648" /><Relationship Type="http://schemas.openxmlformats.org/officeDocument/2006/relationships/notesSlide" Target="/ppt/notesSlides/notesSlide17.xml" Id="Rccf7ee096f3548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519FC-F67A-4CE6-9246-C7E8C48E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ECCE7-5E3B-456C-A3C3-8BB5C95E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99148-AD32-4983-9D88-4E03C47F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FE05D-967B-4205-A4E5-888B14D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FINAL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84C70-EE66-40A4-88A6-702F3B2A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104900"/>
            <a:ext cx="62674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0891ec9b04cec"/>
          <a:srcRect xmlns:a="http://schemas.openxmlformats.org/drawingml/2006/main" l="228" t="0" r="2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1143000"/>
            <a:ext cx="619125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47022-BAB5-4175-8FB2-BB22339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657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SepsisCare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B8887-4521-424F-9B94-B09C504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ICU sepsis risk stratification, dynamic phenotyping, and deployable multi-platform software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76745-FB64-494F-83AD-24F32D07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3333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BC655-77F3-4193-ADA0-3FC4E38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067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Course demo, not a clinical 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58ACB-34D3-4083-801F-F40DA30E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6E016-8946-4913-A4C7-875DD58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Research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85F79-9F03-4367-8DF9-E7F8C28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62375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3F140-F387-454B-BBA9-B56BFD1C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Working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894FD-3006-4DFB-9550-1CEA95F1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6237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48C23-7BEB-4BE5-B791-55D9F2BC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Security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DD163-1FE1-4713-934C-48752AB0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762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1F6F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E7107-DE9C-461B-836C-AB55DDA5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rPr>
              <a:t>347,634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32400-F38B-4016-84E5-91074157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declared training patients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944BA-1CD7-4179-9E58-4C0D0EF2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1762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0478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1F022-3F84-4A9B-A378-FB473500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863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0.956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8251E-7C5F-42A1-9E75-7A692A9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864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S7 phenotype Macro 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AFFDA-D160-4CB0-A9C8-62CEF53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1762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0478">
            <a:solidFill>
              <a:srgbClr val="6D28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FE8F5-9E4D-4C3E-BC03-A8F958C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863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0.848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22807-3041-4F01-A844-4F832873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86400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mortality AUROC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4D8BD-90A1-4FF9-9041-E6B5165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340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Final package: model, apps, documentation, audits, deployment scripts, and explicit residual-risk boundaries.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EFC36-8A90-4128-871D-904DB13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357A23-93A5-43FB-8084-40A5F312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SepsisCare final presentation | Project report dated 2026-06-03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63620-BCD9-4D55-9C83-966CC82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13430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A58B0-C9E1-4316-BDBD-F62019B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E801E-4EB7-4EF6-9524-CB60206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E1C93-5AB8-486E-8086-791C7F2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12B8B-B8EC-477B-ACB2-DD3C307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0A91C-7896-4D79-9482-E5792CFB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Problem and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4AEDC-C0F8-4293-BC1B-51CF17DF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project turns ICU time-series research into a demonstrable software system, while keeping clinical claims constrained.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5E5F4-B195-4644-95A0-331CC748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4000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270EF-5A71-4EB5-BBA3-8640129E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365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Clinical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35BF7-66B5-404E-B9BA-555E6B5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3657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Sepsis evolves quickly in ICU settings. Static scores cannot express 48-hour trajectory changes, missingness patterns, or phenotype transitions.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48FA4-66A5-462A-A21B-706D396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4000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2C0C7-D998-44BF-A822-DA1FA0C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81200"/>
            <a:ext cx="365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Course 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5D4A3-BE18-4DEA-8902-1F46E5B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43150"/>
            <a:ext cx="3657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Show an end-to-end loop: data preparation, dynamic phenotyping, risk modeling, multi-role interfaces, deployment, and evidence-backed safety controls.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5D167-8FD9-4DF9-BEE7-63616E8E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28800"/>
            <a:ext cx="4000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25889-89C2-43E7-A4BE-44172173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365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Hard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6DECD-C81B-493C-BA8C-CA9B80A0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43150"/>
            <a:ext cx="3657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The outputs are for course demonstration and engineering validation. They are not autonomous clinical orders, diagnoses, or regulated medical-device claims.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B8D69-E936-4C24-B82E-D1A82BFE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72F04-C869-448F-B2BB-CE445CCF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1268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Research layer: learn stable patient and window representations from de-identified ICU time series.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A8AF6-E8D3-4E7B-921F-C0E02BFE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F44D8-D31F-4B5F-B2A9-EDE066C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29200"/>
            <a:ext cx="1268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Engineering layer: ship app clients, HTTP APIs, model service, training terminal, and deployment scripts.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2D4AF-6B5D-475E-9FBC-BACB45D1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91982-62CC-42ED-8F5D-FC5D1B1E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1268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Assurance layer: add token gates, SSRF filters, data audits, artifact manifests, and explicit blocked-state reporting.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ACB2B-5324-4A1A-B1DB-38EC6017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056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B2AC6-6516-4778-A4D9-6281C5BB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800850"/>
            <a:ext cx="697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A good final demo is useful only if its limits are as visible as its metrics.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6A228-C087-4788-8AEE-72155F26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F8DBF-7DBA-4CB3-B90C-ECB551CD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current SepsisCare project documentation and verification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AFEEC5-B48D-4CE9-8354-E98D821D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15391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83C44-A360-441D-B352-46C458D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7568C-6690-4508-9DEC-1A81F28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D164D-9227-487A-89FD-92E3D1E0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AF2DD-3F55-4DF6-8133-BEAE654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9DDB9-3A0C-4771-BD0E-7D8AF3C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Data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B15FB-555B-4409-8C42-39D5548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Four ICU sources are normalized into a common 48-hour time-series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F3883-8FD6-48E0-B3D4-B84C94C2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5DBD1-B72E-4E25-902A-76493C6E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rPr>
              <a:t>11,986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FCBA7-9A19-409E-82AD-A71132B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PhysioNet 2012 main phenotype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26979-8B16-4756-A5A8-D7966005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0478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77BE7-450E-44D4-BE25-8E1407F2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859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40,331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E0FA2-1985-40C5-B2D4-FF535338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PhysioNet 2019 auxiliary sepsis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435A0-0910-4D6E-B1C3-E6DDE154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526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50C03-FCCF-4A9D-B795-B52FDA3B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rPr>
              <a:t>94,458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9FC3C-EF7B-49D1-B892-0B0D95E6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86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MIMIC-IV external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ACB8F-D2FC-4914-9150-78022AC6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0478">
            <a:solidFill>
              <a:srgbClr val="6D2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7CE34-7313-4210-86C7-E547EFE2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859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200,859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E20E9-F8D1-4818-9571-3AE2EE1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eICU large external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ABFD6-CCBE-4EC2-AF2B-3154A421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526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0478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435A5-1086-4C35-A9B9-977C7EC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859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347,634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969E3-CF0E-49DE-AA21-E9FACDF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860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declared S7 training patients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510BF-EDDE-4146-8D75-FE2247A2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PhysioNet 2012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B61CD-E6A7-42CD-93C3-393FEB10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9525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98E03-7D07-4DF0-865B-D1E28507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9525"/>
            <a:ext cx="35880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7CD36-A4D1-4342-961D-50B73B45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11,986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6E5A0-AE9F-4AC1-973E-B2543C0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PhysioNet 2019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FA251-0418-4C58-9F10-15DB8F7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91025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31F42-FEE4-41F6-BDEE-E0634E1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91025"/>
            <a:ext cx="120733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AB005C-7A1B-43D8-81D6-C0D86358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40,331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6F493-3B93-4978-891D-98512A4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MIMIC-IV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B7F3FE-DCAC-42A0-97A6-862C55B4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62525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22287-2D23-4B4A-BDCA-90D688D3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62525"/>
            <a:ext cx="282766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FFFAE-D361-491A-9666-8386C60B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149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94,458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F1FB4C-CD40-4F6C-AB90-200CA2D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149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eICU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42ACBA-7F39-458B-BAE4-1AA4329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34025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6B065E-DCF2-4137-86B7-B6AED8C9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34025"/>
            <a:ext cx="601285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26D5BB-5889-4B93-BB0F-4767DD41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864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rPr>
              <a:t>200,859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14D6E-AA90-4F47-8040-68FCB28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24300"/>
            <a:ext cx="32861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model sees values, observation masks, static features, interventions, labels when available, and source provenance. Missing labels are handled through masked losses rather than forced fake labels.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4161E-E8CC-4DB5-9D65-1B632038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62625"/>
            <a:ext cx="3286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9F3CB3-66C4-4E51-B0C4-F4B9462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857875"/>
            <a:ext cx="3019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No restricted raw ICU database is packaged in the final delivery.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6EED04-0F43-42EF-8E1F-B348FF40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E31C86-EDDE-469F-8C6F-06F5ABF2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03_documentation/SepsisCare_Paper_Report.tex, dataset table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A3E716-5A28-4164-9CFA-E81F8DE9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71361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9A5C9-6640-4555-BC98-211E28E3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FB9A9-2D84-4E5B-8B4B-947C7AA1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84EC-9457-4E05-8BA8-31A12DBE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0BC17-7F16-49EB-9885-367219A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4B9D3-1424-43E8-A961-DD9BF59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S0-S7 Research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3285A-938D-4EA8-9576-48FAD3C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research path is a staged engineering argument: each stage keeps one useful idea and fixes one observed weakness.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A454F-651E-4D6C-8DAE-3D41006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810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13D12-F6AC-44BB-8CD4-EDB907C4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1. Build stable representations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9ACF4-22C0-4085-941F-3AE78FD8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3467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S0 builds 48h tensors and patient splits. S1 learns temporal structure. S1.5 stabilizes embeddings with contrastive patient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C53D1-B242-4C26-8DC9-1C8B3F4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956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FA7FF-EBFC-48D4-854F-3FC44B6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3810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C5E90-2EAC-4BA4-95A7-14317021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479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2. Make dynamics interpretable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1218E-E0B0-4665-952A-C24752A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3467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S2 discovers rolling phenotypes. S3 checks center transfer. S3.5 calibrates risk. S5 prepares real-time partial-history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543C3-2E3A-4616-95BC-505B71A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956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8DB23-4357-4910-94D6-8C1326D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3810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6B50D-4D37-4175-B49F-CAFCAA7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479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3. Train the final deployable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2E0A5-7132-4248-8B5B-306C107C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09850"/>
            <a:ext cx="3467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S6 tests missingness-aware GRU inputs and domain robustness. S7 combines source balance, GroupDRO, phenotype CE, SupCon, and auxiliary tasks.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E6848-1EAC-4B15-B646-2C096865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D854A-0CD6-46EF-BD00-B3871270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29175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S0 / S1 / S1.5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FC878-A927-46DF-9F6B-6689C94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75BCC-97BE-4D48-9E7D-BBB0266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S2 / S3 / S3.5 / S5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3EAD9-4B76-48A0-AD80-88E3C24C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762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A2269-4910-422C-9E45-03CD3E67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829175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rPr>
              <a:t>S6 / S7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228FE-BC50-4829-A7B2-2CAA35B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3714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81D90-5697-404A-BE6D-55EA9E63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62650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Selection logic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20317-B43C-4D9B-BE11-6410C5F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24600"/>
            <a:ext cx="3371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Keep a stage only when it improves interpretation, transfer, real-time use, or delivery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17DF9-0662-421D-ABD3-78B8ECE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810250"/>
            <a:ext cx="3714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8F78F-115B-4C65-88F5-4AFEB36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962650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Research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92422-3729-4146-901D-4A777C85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6324600"/>
            <a:ext cx="3371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The pipeline produces embeddings, phenotype states, transition matrices, calibrated risks, and artifacts.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8BD0D-8DC1-4C41-B412-AA392B5A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10250"/>
            <a:ext cx="3714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64FCDF-A2A4-4C9B-8C1D-043E784D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62650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Claim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A349E-AC0E-46AE-81BD-63279F25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24600"/>
            <a:ext cx="3371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S7 is a course model and smoke-test target, not clinical held-out validation.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E65BF-7564-44E2-BC5B-A3FB7B3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2AD4B6-866E-4849-8EEA-6ECB187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current SepsisCare project documentation and verification notes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0BA01A-BADF-4544-80FE-A6CC6F2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0980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1FFC6-F98C-4A33-B764-ABF01F38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8F089-F3DC-41D0-BA26-19B0A2A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8460E-DEE7-496C-B7ED-8B73239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377D0-35FE-4F8A-B688-62B51042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2CFAA-415B-49C2-AE04-C92E541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S0-S1.5: Representation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68AE5-1DEB-44F1-AF45-D2D10CA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first research block turns raw ICU records into learnable patient trajectories before any final predictor is trusted.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CB3AB-E191-4FD4-B1A3-B93C7A80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476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3E0BA-C050-4027-861F-360AF28E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05025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S0: unified 48-hour tensors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1372C-DCEF-4F54-9176-79EB893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6975"/>
            <a:ext cx="31337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Align each ICU stay to hours 1-48. Build values X, masks M, static features A, interventions P, outcomes Y, and patient-level splits.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60CCF-2663-4EE7-BDDD-F3C15BE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4381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3BFBF-204F-4780-A759-616E0A1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3476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4F5BB-9959-4AFC-B0C1-816663A8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05025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S1: masked reconstruction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6C4D6-E7A8-465B-BE71-1E70000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66975"/>
            <a:ext cx="31337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Hide observed values and train an encoder to reconstruct them. This checks whether ICU temporal structure is learnable before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0EAFE-6676-4C9C-8BD3-D2A74E38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47950"/>
            <a:ext cx="4381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8E89F-FAC4-48B4-948A-4CD28563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3905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4600A-1479-4FF8-B306-82DC628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050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S1.5: contrastive augmentation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71C7F-FB5A-4546-826C-14CD5A71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66975"/>
            <a:ext cx="35623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Create two augmented patient views and pull their embeddings together. This improves clustering geometry and risk ranking stability.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65EA2-7A35-41F2-8FC9-3A80892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Input discipline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AE2AA-3180-4BB2-AD7B-280CA9A9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767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Learning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6A565-88E1-40FB-918D-69070D3C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767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Why it was kept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A39C9-032A-486D-8B23-4F5CF75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3476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0CCBF-7D94-44CB-BE94-1117D0CB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Leakage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1D68D-D24D-48E1-8C35-DED0A1F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14975"/>
            <a:ext cx="3133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Train-only normalization avoids seeing validation or test patients.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DB60D-E282-4FC0-8929-6B8E8EE0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00625"/>
            <a:ext cx="3476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DD2B6-3275-4968-96D0-21389005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53025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Self-supervision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DED12-DF4C-4542-BD3F-71CFB861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514975"/>
            <a:ext cx="3133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Masked MSE learns from sparse ICU measurements without dense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337E8F-A496-4ACE-BA21-D19F6D2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00625"/>
            <a:ext cx="3905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739F2-CADB-4D6B-A289-9CF5C2E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530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Embedding quality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1320D-CA2C-4B35-A291-65890C8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14975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S1.5 became the base for rolling-window phenotype discovery.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40976-B1C6-4F85-8164-62FB5D7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762750"/>
            <a:ext cx="8286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5A14C-5FED-4083-8CCF-72AF3AC8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85800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Decision: do not jump directly to a mortality classifier; first make the time-series representation stable enough to support phenotypes.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C1B64-6381-4DAE-B5C1-45734EDE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4690A-BA35-40D0-A6B9-5C2A9FAA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report sections S0, S1, and S1.5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A2B32-8F39-40F0-ABA4-00DAA13A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09417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7C021-CDFF-499E-AF86-051931D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48CB7-145A-4FE8-BAC0-021FD6F8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7E2D6-8EEE-43E7-A516-865019DA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F8003-0DA2-48B5-AEA5-C0A4F9D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54DEC-7100-49B4-92D8-C8322574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S2-S5: From Phenotypes to Real-Time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F7A33-1A8A-4470-B8A1-934D35F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middle research block converts embeddings into dynamic states, validates their stability, then adapts them for online inference.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161D2-0D33-4A1A-8DF7-1AEA6B1A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3DD92-CFED-42C5-B441-CF0F81C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657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S2: rolling-window phenotypes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DF4A6-4AD4-47B5-BB54-CCFE2498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Split each 48h trajectory into five 24h windows. Encode and cluster each window into P0-P3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83C1F-49E2-4D8F-AB27-889D031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05715-A56B-4CB6-9F2F-962F6E2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7F850-2AE7-4CF7-9E29-A4BB739C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62150"/>
            <a:ext cx="2657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S3: cross-center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E63C8-322E-4E2F-A354-6D2D51FC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2410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Train on Center A, apply to Center B, then check prevalence, mortality order, highest-risk state, and transitions.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D4DC3-E65B-41E6-8DE9-7266D9C0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57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F6855-1B0E-43E4-915B-D957F683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A9C85-1B40-4957-A77D-EC12E4F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2657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S3.5: risk readout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7AECD-67DB-4043-9A8E-02271FB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Combine embeddings with statistical features. Compare classifiers and calibrate mortality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7CE7F-50C4-4D6A-A8A0-4008688C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457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5C107-D3A9-4CB7-BB66-CC27DD89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1809750"/>
            <a:ext cx="2428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BC578-3EE8-427E-9DAA-94067718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1962150"/>
            <a:ext cx="2085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S5: horizon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B9486-CF62-48DC-BDF8-0A57685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2324100"/>
            <a:ext cx="20859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Train with partial histories and add alert rules for history length, threshold, streak, and cooldown.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F582E-65BB-487F-AC73-0A8DB2D6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3714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1073E-359A-430E-A5E1-C3EC9575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9102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Interpretability gain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CAE30-6E9D-443C-8143-7AE31127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3371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Phenotype transitions explain how a patient moves through risk states.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06ABB-6811-4605-B4E0-3595B0C5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38625"/>
            <a:ext cx="3714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937DC-D174-4DCB-8C04-EEBCACC3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9102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Validation 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4327C-A54C-4C71-816C-BBD15852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52975"/>
            <a:ext cx="3371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Center transfer checks whether phenotypes are more than single-center noise.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24741-73A0-46E9-A65C-FD58CA1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3714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9CF373-6DEA-406F-A77A-9637270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39102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Deployment gain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882AC8-F022-4F7E-8CF7-F1988737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752975"/>
            <a:ext cx="3371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Horizon augmentation matches what is known at hour 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17FFC4-4BB0-4F60-998B-92A60B4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72250"/>
            <a:ext cx="952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29722-008A-43D9-876E-A9207EF0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667500"/>
            <a:ext cx="925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Decision: phenotype states became the bridge between research metrics and software explanation panels.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6F9A5F-D90F-4525-A312-CA8AFF12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2A99E-6390-4EBF-8A42-A5D6405F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report sections S2, S3, S3.5, and S5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1660F-8133-4225-8882-F9016504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75526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99347-87BF-4FEE-9CBE-25A2F04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735F2-5CB2-499B-8401-B7D2275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D419F-2BC0-42E9-A39A-E891CC7B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04ED9-D480-4DE7-A309-7EC78AC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8E726-5885-4F68-BBFE-527057CF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S6-S7: Final Robust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1649-488A-458D-BCD2-92FAF6E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final research block adds missingness-aware sequence modeling and source-balanced multi-task supervision.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DC89E-E866-4C29-8B59-34E8CFE0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76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83DCF-D3E3-4355-BDBB-0735C027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S6: missingness-aware GRU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B2138-ECB8-4914-9742-5A02A62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3133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Each hour includes values, masks, intervention proxies, and time gaps. Missingness becomes a clinical signal.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5CC7A-CEF5-4917-A21F-C287987C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17607-2591-497B-9984-F6887D2C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05000"/>
            <a:ext cx="3476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FDD6A-9292-4946-BD8C-26D6A04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057400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Domain robustness trials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BA070-1115-44B4-ADBA-FBB4E703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19350"/>
            <a:ext cx="3133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Test source balance, DANN/CORAL, GroupDRO, GRU-D style inputs, and ensembles. Simple invariance was not enough.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48BA0-49A8-4440-A0BE-2759A53A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A317C-0CE5-43DB-98BA-4869C9A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05000"/>
            <a:ext cx="4048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171F1-DB4C-4712-A1B5-E1046DE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57400"/>
            <a:ext cx="37052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S7: final 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659C0-7E3E-4295-9AAC-76238B28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19350"/>
            <a:ext cx="37052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Train all sources with source balance, GroupDRO, phenotype CE, SupCon, and auxiliary LOS/MV/RRT tasks.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A0FDB-F055-4CC2-9D68-791C371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1F6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14D51-CE66-4870-9AC5-7E8B0A23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67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rPr>
              <a:t>347,634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E083A-AD95-41CB-8C20-028C05B5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67275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declared training patients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64ED7-F085-4360-8310-CA8B7146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33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0478">
            <a:solidFill>
              <a:srgbClr val="4755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1718E-4B01-41BA-8125-B710F331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67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31,319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45918-7C74-481C-BF41-8D607FA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867275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model parameters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DFF32-7C31-42D1-8B89-A7B13C1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0478">
            <a:solidFill>
              <a:srgbClr val="1580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8E158-1456-4795-99CB-BA35590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67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0.971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9EEF1-8B84-4427-8E6F-3F87EA25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67275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encoder Macro 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1E93E-0C63-4D57-8476-0AB9DCB5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33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0478">
            <a:solidFill>
              <a:srgbClr val="6D2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78770-9711-4A70-8626-912ED446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67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0.956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DEF802-7AA5-4D89-9C12-17101864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67275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smoothed Macro 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00422-51A3-4C72-98DD-409A8A24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33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718BA-9639-4AD6-924A-C5F2EF00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4672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rPr>
              <a:t>0.968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735684-649E-4244-BF2C-23C4F5CC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867275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ventilation AUROC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DDD210-9676-4122-AFD3-5A726E94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191250"/>
            <a:ext cx="1190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Final output: trajectory encoder, phenotype readout, transition matrix, model-service package, and smoke-testable deployment artifacts.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D78313-B998-49C6-9F40-3C6ACF28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858000"/>
            <a:ext cx="7905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BB9540-1B80-4407-99CF-09170B3F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6953250"/>
            <a:ext cx="763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Boundary: S7 is the final course model, not a clinical external-validation claim.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96A7C-14F0-4726-8EF4-7D00D7F9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E52EC-EFE5-4CD7-85E6-868B001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report sections S6, S7, and final result table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8EFD0E-8B87-4F68-BC56-E3C5E980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58717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8C270-1B80-448F-819C-27E8448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18B61-E7AE-43FC-BFC9-C4551100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34F60-8A2C-4D6B-BFF5-CBA5BC39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B4C45-0FCB-499B-ACEF-CB21CE30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6CC00-31AD-4695-AEE5-8251D08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Dynamic Phenotyping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B4262-424B-479A-9366-1E040B20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patient trajectory is represented as rolling windows, then clustered into interpretable phenotype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42408-428F-465F-A2FD-4425F02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9029700" cy="499110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d1926cc894ceb"/>
          <a:stretch xmlns:a="http://schemas.openxmlformats.org/drawingml/2006/main"/>
        </p:blipFill>
        <p:spPr>
          <a:xfrm xmlns:a="http://schemas.openxmlformats.org/drawingml/2006/main">
            <a:off x="685800" y="1734473"/>
            <a:ext cx="8953500" cy="49130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267CB-00B4-4D22-82CA-9A4C7AF2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3810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S2 discovers phenotype transitions; S3 checks whether the same structure survives a Center A to Center B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10C47-55F8-47DB-A726-68E02FE4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1762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6C046-7D57-4EA9-B5DB-4FB2C822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9925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5 rolling 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F255A-2875-406B-9632-52E67456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143250"/>
            <a:ext cx="1762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5537F-F440-4B1F-8771-12A6864A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09925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4 phenotypes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EB6A3-35C2-4719-BDBD-08DC1EC1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3714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E63C9-9836-4377-B9A0-6A722761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814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P2 retained as highest-risk stable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407EB-669A-4C0E-8C70-2FBD7CD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29150"/>
            <a:ext cx="3714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AA1B5-1784-4BFF-8F6E-BB234B1A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24400"/>
            <a:ext cx="3448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Phenotypes are a communication layer between time-series embeddings and bedside interpretation.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0AD99-28C8-447E-9247-734DD45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53125"/>
            <a:ext cx="365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This is why the app can explain not only risk level, but also trajectory and comparable historical cases.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97792-31D4-42A8-92D1-F343353E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882E8-23C5-478E-BDB1-847A4724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 visual: 03_documentation/figures/fig2_s2_s3.png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93F39-46B9-473C-AF38-7EB3164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2688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F44D7C-B7A7-4216-B442-0E02D56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B4289-F4B0-4147-A4BE-4D27846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7AF61-B828-4CCF-A633-A8BF6F8B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335A0-0EF3-47D5-A55D-FCEFE8A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28384-8764-4872-9D85-F4CBF5B7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Final S7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A42A4-F8B0-4D4E-B380-64FF52A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Missingness-aware GRU plus source-balanced GroupDRO, phenotype CE, and supervised contrastive regularization.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2E7C9-2DA2-4296-A1A3-224E720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60120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80a1fcf5a4f81"/>
          <a:stretch xmlns:a="http://schemas.openxmlformats.org/drawingml/2006/main"/>
        </p:blipFill>
        <p:spPr>
          <a:xfrm xmlns:a="http://schemas.openxmlformats.org/drawingml/2006/main">
            <a:off x="654036" y="1733550"/>
            <a:ext cx="9512327" cy="5219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C8F4F-D224-4EB8-94D0-ADA4BACB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final encoder treats missingness as signal, not just an inconvenience.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1F4A1-A081-4647-A3BD-B4E1CE60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03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0478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3C5EE-3509-4AD6-A33B-742051C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337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31,319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7AE80-EC24-42A1-8D12-82C8892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337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84F98-95C9-4CAC-9138-AD4C7FA5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003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0478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8DFCD-CDBC-4013-9836-B2A5721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9337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884FE-FCFC-4F90-AF7C-82E7333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337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GPU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2ACD1-D115-4BBF-AAEA-CE4B17EA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338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0478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C3B92-9C9D-4722-A1AB-97310C2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672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0.971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911F0-68D2-4198-9198-B1A6711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672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encoder-only Macro 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2F2CF-5A82-4B0A-982D-D4D6E50B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1338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1F6F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0B81C-FFE0-4D6F-942A-164291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2672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rPr>
              <a:t>0.956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98072-4F18-47E8-B579-914AC08D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672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smoothed Macro 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2A06A-D953-4BD9-BAF6-A5F563A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7150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Key design choice: combine auxiliary clinical tasks with phenotype-specific supervision so deployment can serve risk, trajectory, and explanation views.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BC84-B578-4B69-A19F-8F18490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0BD96-03A2-4064-8ACB-7D729CE5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 visual: 03_documentation/figures/fig3_s6_s7.png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B7222-2567-4CCF-B498-880148C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54253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6EEC1-53CB-47F0-832A-C6B789E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0D3AE-63FA-4A93-9DD3-F8238399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7AF32-0CA0-4369-9ECB-7AD4F8E1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CB93B-E981-4625-858F-20CB5E9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54B3B-4408-403C-9B79-241F78C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Key Results and Evidence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348DB-131A-40A2-8699-0EF8B971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metrics support course demonstration and engineering validation, not independent clinical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807CA-164E-4B5D-8FFE-3D3C8C8C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0478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953F4-9596-47B7-A15D-A3C0D458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0.956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3DE3B-5D0F-4D00-87C7-43595341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encoder + transition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4BB7F-6D1B-4187-93DB-31D7B6FC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1F6F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67943-443C-43F6-9C83-0318497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rPr>
              <a:t>0.832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74ACC-4F17-476D-B194-BA2F6699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full-patient match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4DEDD-562A-4BF2-908F-CCCBAD0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0478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E2E67-7644-4C98-B0BE-64527A0D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0.848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D61EC-C3F0-4236-882C-9C4F4340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431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mortality AUROC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5860A-6DA4-4CAE-9A5F-B2CC27B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BC73F-E46D-4704-9407-0921E632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rPr>
              <a:t>0.968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476A7-09D7-4D3F-9E30-661F6A9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next ventilation AUROC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5F592-58C4-4889-A4FE-9B67DA2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097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0478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9BA41-1110-4BD0-B6C1-6F2B3DA4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943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2.955 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D2B98-7E54-48D3-9882-47B36DAA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431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remaining LOS MAE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34A89-74AA-442B-9993-9540E085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Rule 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80400-578C-4433-B5B3-38BF8781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624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B9175-2AE2-4201-AED9-4B295C3B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62425"/>
            <a:ext cx="75742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436D5-8096-4F07-BDA4-48FD663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475569"/>
                </a:solidFill>
                <a:latin typeface="Comic Sans MS"/>
                <a:ea typeface="Comic Sans MS"/>
                <a:cs typeface="Comic Sans MS"/>
              </a:rPr>
              <a:t>0.142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E223B-0E8E-407B-A6E7-B183C1FA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5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S6 v2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3417C-15D6-44F2-86CB-F4BE3AD1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243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AA6FD-0767-4E8B-A5E9-025CA079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24375"/>
            <a:ext cx="43792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24A094-B4B1-4AFB-8171-EAE789C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0.821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F00D6-936D-4EC9-B466-F0EB84BA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GroupDRO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585457-0FA1-4C18-A6CA-D31E0A1F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863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F2C2F-5B56-4470-8A8E-B9F4CCB4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86325"/>
            <a:ext cx="42992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FFCD1-F77A-4711-AF63-E6C7161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387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0.806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2CF20-013F-4634-9280-431D9544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292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S7 encoder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0CBBA-502E-4491-A176-62BE3A1B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709E8-8AAE-4D8D-B768-3D57829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51793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AA5D4E-6BCC-4767-9D94-47C8E90F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00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0.971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2612E7-83D7-4083-A484-D2B9CFFF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911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S7 smooth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3D6E8C-85A4-4F35-BB9A-63E4851D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02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10A1C1-703C-4196-BD43-BF09483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0225"/>
            <a:ext cx="50993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034B96-1ED8-4D07-8827-E1ADE4A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626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rPr>
              <a:t>0.956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6760A2-F73A-4D48-84B7-2D37B761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381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strongest evidence is phenotype consistency on the demonstration monitoring split plus working API/model smoke tests.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3C4A15-2B25-4654-94E0-4E73FF6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48300"/>
            <a:ext cx="3810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485541-ABDF-4234-B84F-3867527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543550"/>
            <a:ext cx="354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Do not present S7 as held-out external clinical validation.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683CEA-0A37-4BA3-B872-69AF5FC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09DD06-48B3-41EE-94EA-6D6A07A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S7 result table and report boundary note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0338AA-4902-4728-817D-29552B39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5645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59AB1-7C54-4EF9-983E-161324C2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5EBAC-C4B9-4F6B-B213-ECE25942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26A15-4902-40AE-93E7-C422911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98438-0438-4555-B727-652FE787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A25AD-2E9F-4078-BD62-5D39351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Multi-Role Product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12498-370C-4064-9B8A-B4CDEDB5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model is wrapped in workflows for doctors, researchers, family communication, and administration.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23460-F97C-4ACD-95EA-A729F807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1719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a2a2505ff4136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90700"/>
            <a:ext cx="4095750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1468E-25AC-439E-99EB-F51F910B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52600"/>
            <a:ext cx="41719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f182108d44e7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790700"/>
            <a:ext cx="4095750" cy="2571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AE4D3-195F-4EEE-AD35-C17AF174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41719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c9c8da074b51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0" y="1790700"/>
            <a:ext cx="4095750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2303C-C925-41A6-A9F5-BC0C7BC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310B8-6044-4F82-B877-C4A2C05F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7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Doctor risk 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C48B4-040D-416B-931B-F67FA76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66D66-656A-46E7-B7E0-3E4FD280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577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Historical ICU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1DDDE-E0C5-41F0-8B38-B8A2AEE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910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B94FD-8EBF-49B5-8B3A-625755E4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577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Admin / model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05DF6-D430-4A50-94B9-B0486D0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Doctor view: current queue, risk explanation, trends, phenotype, and model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594D2-313C-43F6-86E3-7F099C2E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197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Research view: historical patients, detail panels, cohort evidence, and model experiment outputs.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01D63-F1B4-4DAA-BBB6-3E08CF8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197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Admin and family workflows: service monitor, AI explanation, account binding, and audit visibility.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6D088-304C-405A-84CE-BDCD535B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3D98C-3DEE-4D4D-9493-0AAAE953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 visuals: installed-app screenshots in 03_documentation/figures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75B90-310A-4AD8-8749-223C8FAD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47568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C3ED4-FBC8-42DD-BBE2-AD7AE198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58787-6CEC-40AA-8323-704248B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0E2D2-CE0F-484C-98F2-29F13171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72D43-AB35-470E-84C1-062C10C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3BAA-62AC-4ACB-837E-F3E9A952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Software Architecture and API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BD652-9DA2-4D45-961B-FD8E16BA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Multiple clients share a standard HTTP API while model, AI, runtime data, and training terminal remain replaceable.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A751E-8FD8-4A26-BD4A-E4B72F80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219825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1f351967b4f6d"/>
          <a:stretch xmlns:a="http://schemas.openxmlformats.org/drawingml/2006/main"/>
        </p:blipFill>
        <p:spPr>
          <a:xfrm xmlns:a="http://schemas.openxmlformats.org/drawingml/2006/main">
            <a:off x="1234358" y="1752600"/>
            <a:ext cx="485601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19D5E-E687-4B00-8CC9-E67C0FD8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14500"/>
            <a:ext cx="6219825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161a3b4684c64"/>
          <a:stretch xmlns:a="http://schemas.openxmlformats.org/drawingml/2006/main"/>
        </p:blipFill>
        <p:spPr>
          <a:xfrm xmlns:a="http://schemas.openxmlformats.org/drawingml/2006/main">
            <a:off x="7258050" y="1943100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76EFD-EBA7-4FD4-AE0E-09C0C4A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7225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1BE7C-14ED-46CE-B7D8-C20923C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389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macOS / Windows / Android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4EBC9-ABCB-4B76-B119-DDD3402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7225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CE6E2-811B-42BC-98DF-BF742EF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6389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server.py 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3EB30-9F27-419F-B741-BD1B1ADD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7225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FA98A-A658-4AD6-A40A-5DF4E9B6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389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6D28D9"/>
                </a:solidFill>
                <a:latin typeface="Comic Sans MS"/>
                <a:ea typeface="Comic Sans MS"/>
                <a:cs typeface="Comic Sans MS"/>
              </a:rPr>
              <a:t>model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BFFC6-B14B-4114-A78B-1F47063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7225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AB8BA-7FF3-4B1D-9B00-0F39ECA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6389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DeepSeek runtime 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B62DF-49BC-48F7-A1EE-842344C2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477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 deployable system needs stable contracts, not just model weights.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01D16-93CC-48EA-A4C5-D7416EBE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CA264-CA5B-451D-8438-4D68FBC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 visuals: 03_documentation/figures/fig3.png and fig4.png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76E88-1B2C-49ED-BE6E-8891E02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43080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436C6-D6A2-4DDF-BA2F-18C360E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391CE-BA91-437B-9F59-96266804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6485E-1121-494E-9981-BE36054F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7C633-E22A-437A-9E32-5A632ABC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B7078-9462-445A-A84E-2264C758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Network Security Hardening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70F75-BFEF-43F8-9C84-D8DF8AFC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project moved from demo-friendly local access toward explicit remote API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8767C-DB50-48A9-AA04-D5B72503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177DC-6F3A-47C7-85BD-F6DD75BC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Client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9E846-322C-4367-B548-3E651EA2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Bearer token kept session-scoped; launch token parameters are stripped.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06351-C987-4F9D-ACE7-86657FC5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DA336-07EA-4450-BCF2-9EC55421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526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Local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4FFB1-5C26-4739-AF9B-71A4A205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1460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Loopback remains usable for development and installed-app demos.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62720-C7D1-4BE3-A73A-B43625C1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2529F-D5EA-46E5-8E73-06B5E595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Remote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C968C-64C6-447B-B0FD-DB7E5E1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Sensitive paths fail closed without strong configured Bearer tokens.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038B4-4FE0-4E55-AFF5-BCFA7A0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88746-D002-4983-B894-84C65816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External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D1541-4BAC-45DA-8B3B-A3BA2108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460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DeepSeek and training URLs pass SSRF-resistant URL constraints.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BA335-6AF4-402A-AD07-3AC56A8A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0002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0F278-9E63-4534-9F4E-C4944244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152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Audit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37C45-C170-425E-AB57-C2D57441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5146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Auth failures are recorded without tokens or request bodies.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82396-6A5D-4942-95FE-7382A8FF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2D545-8DFF-4DC2-AE1A-7CA8153D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97490-BC53-46C0-A307-C69887BF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64D59-42B9-400A-8F63-63BDA41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3812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15CA9-BD7C-4A23-99F2-2CE2D74A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576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2B0F8-52FE-4C21-9781-6FD74DF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24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sessionStorage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1D83B-2EF9-4145-B114-3E946D4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A7729-6AEE-438C-AA34-B67F410D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CORS tightened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5C1364-A987-47FB-A730-1A0E9347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57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F74E4-3A02-4549-A77B-F8F23523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243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403 / 401 fail-closed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9C2CC-6DC3-4AD8-B71E-9FE638F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57625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78CFDC-FFF5-4007-B137-7A5D5DF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24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no metadata URL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7BE160-F78A-4279-AB7D-9DEBA278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857625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326AA-9A24-42B4-86D1-8F17AA22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924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475569"/>
                </a:solidFill>
                <a:latin typeface="Comic Sans MS"/>
                <a:ea typeface="Comic Sans MS"/>
                <a:cs typeface="Comic Sans MS"/>
              </a:rPr>
              <a:t>no-store / nosniff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743A7-CD57-44D3-BC93-3D3D0424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Important distinction: the shared client password 123123 is a demonstration gate, not production API security.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79C354-4FCD-41E2-9C6E-8434715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533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1A84B9-FAC7-4960-92E5-0FDFB69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14950"/>
            <a:ext cx="506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Residual boundary: the remote server should still run behind VPN or TLS with token rotation.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6ACF3C-1296-4838-81DA-D72858A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0B88DA-1BF7-475D-8658-B3F2FC1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SECURITY_PRIVACY_ETHICS_REVIEW.md network security section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548CD-301A-4ECA-9367-07256E65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21945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54EE6-727C-465B-8433-2CF8A61D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3EA18-B462-47D8-B3B8-B7BB84D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BA002-83B3-48B6-90BF-744293EB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3FCFB-26B8-440B-B4AB-1DDF223D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AC333-9299-4D1C-A1D5-8EB33C32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Data Pollution and Artifact Integrity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75202-DCC8-41D7-9C3E-03E1BBEF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Release data, static files, training metadata, and downloadable artifacts now pass repeatable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D6A34-FD23-4ABB-A7B5-16B3AC7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753A4-E1EE-41CA-A0D6-D300956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002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Runtime data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51937-71F8-4CF9-9A65-26C2F8F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622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Provenance, direct identifiers, duplicates, orphan details, clinical ranges.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D8395-E727-43FE-9291-9A1DC6F6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478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050B6-AD17-4245-BC7F-36109BA5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Sensitive surface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FEB5F-BA3F-486D-9ABA-CC1C93F4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22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Release roots scanned for high-confidence secrets and PHI-like 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E0040-3E7D-4CC9-B775-F992456A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478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3CD59-F15D-4A07-9538-6AA190A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002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Training metadata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8FDF6-C797-4C8F-814C-A4D9E671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622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Source provenance, declared totals, target run, split-policy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6672F-A330-4C50-A284-D9C759B1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478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CAC0D-4785-4EE0-B4B4-C616FCE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002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Artifact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59C2-C02B-4FB7-BE93-ABF84653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622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MANIFEST.sha256 plus optional HMAC over downloadable ZIP contents.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84E9D-59A4-4932-95A2-30B6C26F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28875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8E39B-5F81-4A6E-A147-D7DA9C1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AA4F6-D3FF-4D8B-A14C-B310BFF0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28875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25320-9018-4CB4-94E3-22F031B0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0478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F433C-4DFC-4121-9CF9-C5BDB7D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29100"/>
            <a:ext cx="1781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5566C-E244-4C9B-B012-B449CE2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29150"/>
            <a:ext cx="1781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runtime fatal violations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5D7C0-B91A-428D-8C15-4380429C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1F6F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80A094-F5C0-441E-A705-50D336F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1781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F6FEB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6D8C2-B872-4FDD-A806-ACEF59A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1781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sensitive-data findings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C3360-253F-4C3E-AAB7-77C07EE4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0478">
            <a:solidFill>
              <a:srgbClr val="6D28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CABE5-D4F0-42AE-8124-89F4720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1781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00E11-81CB-495F-9E70-50D0F0FD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1781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training metadata violations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5DE385-815F-47EF-AB4F-8B03CF9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138A2-8298-4988-B3CE-BCBD9BB2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229100"/>
            <a:ext cx="1781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D97706"/>
                </a:solidFill>
                <a:latin typeface="Times New Roman"/>
                <a:ea typeface="Times New Roman"/>
                <a:cs typeface="Times New Roman"/>
              </a:rPr>
              <a:t>347,634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8FBB0-190E-47D7-9C66-507A4D00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29150"/>
            <a:ext cx="1781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declared train patients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ED0E1D-EA39-4D98-9DCB-492DF82A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343650"/>
            <a:ext cx="971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C9E659-7CE2-48BE-A061-A49761AB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438900"/>
            <a:ext cx="9448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This is release hygiene for a course package. It does not replace formal HIPAA expert determination or raw-source data governance.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3F8C6-F1A7-411F-8036-1FE186A1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233296-70BF-446F-BEF9-D2DD837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SECURITY_PRIVACY_ETHICS_REVIEW.md verification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297EA0-0E8C-46F4-9172-02CE480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70601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6E50B-DF14-4FD4-8418-8D8624A0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806E0-5282-46BB-8B36-13644AF7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90BF2-E021-4528-B6D0-E554F31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2FC7A-A34E-4EB2-B77F-9C3BD33F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DEPLOY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91EA-4F9D-4E17-BAF8-6684934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Deployment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0B5F2-E358-476B-BAC0-925FC745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Laptop-to-remote-server deployment became a tested sequence instead of a handwritten command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62EB6-BE35-4C22-9964-881EE5C6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64321-BD8E-4867-A1A5-B4ADA557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05025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Pre-release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73A12-79D2-4556-9414-E21B3BF0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6697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security checks before network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BD2E0-58AC-4818-A3AB-BAB5B897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F5398-F7E2-4C01-BF20-9312BED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E906E-6849-4E89-AFF8-4DA1B57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669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C4196-170A-410B-B0D9-0D71DFFA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5BFF7-367B-4086-9FA9-4DCB92E7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05025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SSH preflight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F84E9-DE60-4BE4-BA53-11DE6A46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6697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BatchMode and timeout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FB0BD-75A8-4384-BE84-40CE2586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66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6C01C-EE79-4404-A446-ACB68E6D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050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1C33F-1762-4E3F-96FA-A422F64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669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DD0CB-4E10-4016-AB91-422F550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52625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43C82-8DDE-472A-A2F6-4F917C01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05025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Sync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07594-A474-43F0-86A5-6A38141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6697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rsync model service without runtime/log 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5D22F-A4DA-4064-A0F8-3238508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66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08046-DD29-4A48-AD7A-FCB20678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050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CC559-E60B-48B5-A3A8-83660763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41090-7F5B-4E97-9A3A-1229691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Remote restart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AC385-7A97-450D-8BB2-0A507415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one-click doctor/start/smoke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76A3B-EAD9-4A81-A041-2DC20869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670C2-2706-48A5-8D7C-45F51D2A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AE812-3E21-4CD0-AB42-5FD130F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81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06028-13CF-4440-9307-6F2A4FF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67125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91758-F3B0-4B40-B196-97DDB846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19525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Mac smoke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BF858-BCB7-494F-B108-74055B2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8147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API forwarding to remote server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48635-1036-40C8-AF60-90D66AF6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81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C81936-357C-4435-8B0E-D97054EE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95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13396-7A32-4E45-B755-957A1FD2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814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947FC-239E-4048-9ECB-E65CF7C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67125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62785F-A0DD-4BFE-9F3D-6259E94C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19525"/>
            <a:ext cx="327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Pull artifact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30672-E54B-4C13-86BD-56EEBAF6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8147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download and verify latest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1A5446-DFDE-4D7C-8C99-F78932A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81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6453CA-DC89-4D7A-B71E-963FC75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95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3D273B-A48C-4B75-AF29-DE282EF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952350-64BE-4F11-A329-9836331C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0067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break-glass requires reason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6316A7-B290-435B-8533-5F265AA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9F9300-64DC-4A04-8C22-B94CB08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0067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dry-run redacts Bearer token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EE7363-75CE-4399-A506-D4B01D7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D584CE-B708-49B2-82AF-02A434B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0067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artifact verifier supports HMAC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9F0EF3-8FEA-4050-B159-B37E5A3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38875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Ready state: local app/API/model service and orchestration scripts are reproducible and tested.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D2F957-7E99-49E2-83B8-E8BFD29C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72200"/>
            <a:ext cx="561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AF1E04-EDEF-4682-924A-ACB0A871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267450"/>
            <a:ext cx="535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B91C1C"/>
                </a:solidFill>
                <a:latin typeface="Comic Sans MS"/>
                <a:ea typeface="Comic Sans MS"/>
                <a:cs typeface="Comic Sans MS"/>
              </a:rPr>
              <a:t>Boundary: the current deployment experiment was run from my laptop; a real remote server still needs independent end-to-end proof.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F97022-8FEC-4527-9B62-BD188C8B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4B1B5E-AC12-4D39-B360-7F337C0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DEPLOYMENT_TEST_REPORT.md and recent project report deployment section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C7C1D4-BD76-4F1A-A605-63CD72B7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774826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9C478-CEEF-4BA2-B38C-D8047841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3459A-BF86-4389-959F-1A399B5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152AA-F3B7-4984-A64F-2ABA966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C6214-5C7B-4037-BBA0-507D8BC9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EABD7-0013-443A-B1A1-432F1CEF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Final Deliverables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E7E0D-4B7B-4E12-B1C5-F70813A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project separates software, model package, documentation, and verification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FB41C-0D73-4A93-9B9B-BBF14DD8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74294-CEB9-4ECF-B3EC-C419CCA8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Software installers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16E87-BAD7-480E-8F00-6629A732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2800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macOS app, Windows installers, Android APK, shared web assets, launch scripts, UI smoke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EB97D-8095-4921-B984-91FB98F2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2EE56-DA59-4BBB-82CB-40A8E07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Model deploy 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85393-C817-4896-ABF7-3D7ECD99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2800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S7 model weights, phenotype readout, transition matrix, deployment service, runtime database, one-click scripts.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79722-E925-442E-8A7C-147F9B8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36B10-1D9D-4A2D-88D7-9FE090A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Documentation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4F6B6-A0BD-48E4-8C7A-C593E6D2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66975"/>
            <a:ext cx="2800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Installation guide, paper report, deployment notes, transfer README, SHA256 manifest, current boundary notes.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77A1D-F01E-4B4E-8B13-47C73F1E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952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C4C0E-6F71-4E79-B788-2C0DAAE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105025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Assurance scripts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58517-5358-46F9-920C-90C118B1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66975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Pre-release gate, data audits, sensitive-surface scan, training metadata audit, artifact verifier.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B498D-0EFF-4622-B4EC-B1A80198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1209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Why split the package?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5E0D7-EA8B-44B6-BC08-81CBEBE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It keeps raw data and API keys out of installers, lets the model service move to a remote server, and gives the final review a traceable set of files and verification commands.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E7934-4115-46E5-8098-4D48C02F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572250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D441C-8B31-45CE-88F8-CAC2E95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389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F6FEB"/>
                </a:solidFill>
                <a:latin typeface="Comic Sans MS"/>
                <a:ea typeface="Comic Sans MS"/>
                <a:cs typeface="Comic Sans MS"/>
              </a:rPr>
              <a:t>PPTX final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9510E-9FD1-4DF6-90C8-0590445E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572250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59213-9644-4D08-A5AB-E7A8B3B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389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paper report 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0BAE2-8E08-4F5A-9EC4-FB8091A2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524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263B7-0ABE-40AE-8837-9C752F20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389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D97706"/>
                </a:solidFill>
                <a:latin typeface="Comic Sans MS"/>
                <a:ea typeface="Comic Sans MS"/>
                <a:cs typeface="Comic Sans MS"/>
              </a:rPr>
              <a:t>03_documentation.zip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5D494-2BD6-4252-ABA5-414C05BA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B5F93A-470D-4576-910F-7FCC91C5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03_documentation report, transfer README, deployment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91B60-7D21-47C4-A728-9E0F1D6E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53979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3C23C-051C-4E3F-8B50-252D0F3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52140-F006-42A7-9764-2C452483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740B1-8A00-4B81-A094-0A5649A0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524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91161-77EE-49EA-B238-6A365AAB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3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681A1-B77C-4267-B792-0E771B5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Limitations and Next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89384-97EF-4496-B72E-B4A98825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The final presentation should close with the same honesty as the system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9D017-7C8C-42E9-BCBE-430E1E3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3714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9607E-BE6E-4007-B4E7-C368B52C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977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Validation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311D8-7291-44BC-A10A-2C7F2CF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3371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Build a true held-out external validation split. The current S7 monitoring split is useful for course delivery but overlaps training patients.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03C83-8D88-4535-AF54-9B9BDCE9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57375"/>
            <a:ext cx="3714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F0773-B1C4-4C09-B9C8-2CFDAB2C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977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Deployment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5C562-1C2E-42D7-8A98-5CC84D00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71725"/>
            <a:ext cx="3371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Bring a real remote server online, run the full laptop-to-remote-server command path, save smoke logs, artifact verifier output, and cross-machine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688AD-B9B3-4DC2-8F05-99E84E6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57375"/>
            <a:ext cx="3714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57DBA-AC30-436A-B5E6-241295EB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0977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Governance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04E99-5D25-42C0-829B-85DF642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3371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</a:rPr>
              <a:t>Run deeper security/threat-model coverage, review runtime display-summary warnings, and add managed key rotation before regulated 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FA9AA-560E-4D9F-9725-D5AE9EEB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76750"/>
            <a:ext cx="1190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Final takeaway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0BCF0-1DF6-45FA-B2B0-3BCF018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91125"/>
            <a:ext cx="1114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SepsisCare demonstrates a complete course-grade path from ICU time-series modeling to multi-platform software delivery, with safety boundaries and release evidence made visible instead of hidden.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DA730-38D0-4BCA-9C5B-6A5CA71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95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0E59A-5816-45FD-817E-1BE8218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6858000"/>
            <a:ext cx="668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15803D"/>
                </a:solidFill>
                <a:latin typeface="Comic Sans MS"/>
                <a:ea typeface="Comic Sans MS"/>
                <a:cs typeface="Comic Sans MS"/>
              </a:rPr>
              <a:t>Demo-ready, evidence-backed, and still honest about what is not clinically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54FC0-7C62-4233-BF83-43479F6A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0050"/>
            <a:ext cx="1409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12713-289B-4276-9178-7F9360DB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5B6678"/>
                </a:solidFill>
                <a:latin typeface="Times New Roman"/>
                <a:ea typeface="Times New Roman"/>
                <a:cs typeface="Times New Roman"/>
              </a:rPr>
              <a:t>Source: project report conclusion and residual-risk sections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25C72-192B-4CBA-A750-C121A229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3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defRPr>
            </a:pPr>
            <a:r>
              <a:rPr sz="975" b="1">
                <a:solidFill>
                  <a:srgbClr val="5B6678"/>
                </a:solidFill>
                <a:latin typeface="Comic Sans MS"/>
                <a:ea typeface="Comic Sans MS"/>
                <a:cs typeface="Comic Sans M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97211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2026-06-03T13:08:51.5830000Z</dcterms:created>
  <dcterms:modified xsi:type="dcterms:W3CDTF">2026-06-03T13:08:51.5830000Z</dcterms:modified>
</coreProperties>
</file>